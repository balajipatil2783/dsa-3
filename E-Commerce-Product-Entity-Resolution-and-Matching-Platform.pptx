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73"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Lora" pitchFamily="2" charset="0"/>
      <p:regular r:id="rId12"/>
      <p:bold r:id="rId13"/>
      <p:italic r:id="rId14"/>
      <p:boldItalic r:id="rId15"/>
    </p:embeddedFont>
    <p:embeddedFont>
      <p:font typeface="Neue Haas Grotesk Text Pro" panose="020B0504020202020204" pitchFamily="34" charset="0"/>
      <p:regular r:id="rId16"/>
    </p:embeddedFont>
    <p:embeddedFont>
      <p:font typeface="Source Sans 3" panose="020B0604020202020204" charset="0"/>
      <p:regular r:id="rId17"/>
    </p:embeddedFont>
    <p:embeddedFont>
      <p:font typeface="Source Sans 3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39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0574" y="1"/>
            <a:ext cx="9164574" cy="5149286"/>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721444" y="1365365"/>
            <a:ext cx="3600450" cy="2071640"/>
          </a:xfrm>
        </p:spPr>
        <p:txBody>
          <a:bodyPr vert="horz" lIns="91440" tIns="45720" rIns="91440" bIns="45720" rtlCol="0" anchor="b">
            <a:normAutofit/>
          </a:bodyPr>
          <a:lstStyle>
            <a:lvl1pPr>
              <a:defRPr lang="en-US" sz="36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1445" y="3536116"/>
            <a:ext cx="2873156" cy="1122462"/>
          </a:xfrm>
        </p:spPr>
        <p:txBody>
          <a:bodyPr vert="horz" lIns="91440" tIns="45720" rIns="91440" bIns="45720" rtlCol="0" anchor="t">
            <a:normAutofit/>
          </a:bodyPr>
          <a:lstStyle>
            <a:lvl1pPr marL="0" indent="0">
              <a:buNone/>
              <a:defRPr lang="en-US" sz="105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721444" y="164592"/>
            <a:ext cx="2027833"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926580" y="164592"/>
            <a:ext cx="1121524"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53315418"/>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913089" y="161144"/>
            <a:ext cx="1114425"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618755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1" y="8925"/>
            <a:ext cx="9144001" cy="5149286"/>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315594" y="344440"/>
            <a:ext cx="4243851" cy="2018519"/>
          </a:xfrm>
        </p:spPr>
        <p:txBody>
          <a:bodyPr/>
          <a:lstStyle>
            <a:lvl1pPr>
              <a:defRPr sz="345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5521698" y="387450"/>
            <a:ext cx="1945361" cy="1220915"/>
          </a:xfrm>
        </p:spPr>
        <p:txBody>
          <a:bodyPr vert="horz" lIns="91440" tIns="45720" rIns="91440" bIns="45720" rtlCol="0" anchor="t">
            <a:normAutofit/>
          </a:bodyPr>
          <a:lstStyle>
            <a:lvl1pPr marL="0" indent="0">
              <a:buNone/>
              <a:defRPr lang="en-US" sz="9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521699" y="164592"/>
            <a:ext cx="1878037"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2401" y="164592"/>
            <a:ext cx="859787"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468743" y="164592"/>
            <a:ext cx="416961" cy="253746"/>
          </a:xfrm>
        </p:spPr>
        <p:txBody>
          <a:bodyPr/>
          <a:lstStyle>
            <a:lvl1pPr>
              <a:defRPr>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5158620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9141714" cy="51435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3347883"/>
            <a:ext cx="9141714" cy="1795618"/>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3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6600825" y="3347883"/>
            <a:ext cx="2540890" cy="1795618"/>
          </a:xfrm>
        </p:spPr>
        <p:txBody>
          <a:bodyPr vert="horz" lIns="137160" tIns="365760" rIns="0" bIns="457200" rtlCol="0" anchor="b">
            <a:normAutofit/>
          </a:bodyPr>
          <a:lstStyle>
            <a:lvl1pPr marL="0" indent="0">
              <a:buNone/>
              <a:defRPr lang="en-US" sz="105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328242" y="164592"/>
            <a:ext cx="2055462" cy="27432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6649571" y="164592"/>
            <a:ext cx="1468493" cy="274320"/>
          </a:xfrm>
        </p:spPr>
        <p:txBody>
          <a:bodyPr/>
          <a:lstStyle>
            <a:lvl1pPr>
              <a:defRPr>
                <a:solidFill>
                  <a:schemeClr val="tx1"/>
                </a:solidFill>
              </a:defRPr>
            </a:lvl1pPr>
          </a:lstStyle>
          <a:p>
            <a:fld id="{0C9DF407-AAD9-4F9F-B512-267BEB339CF5}" type="datetime1">
              <a:rPr lang="en-US" smtClean="0"/>
              <a:t>8/18/2026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8521647" y="164592"/>
            <a:ext cx="336604" cy="274320"/>
          </a:xfrm>
        </p:spPr>
        <p:txBody>
          <a:bodyPr/>
          <a:lstStyle>
            <a:lvl1pPr>
              <a:defRPr>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313496250"/>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35879" cy="51435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307485" y="3233854"/>
            <a:ext cx="6439003" cy="1776225"/>
          </a:xfrm>
        </p:spPr>
        <p:txBody>
          <a:bodyPr anchor="b">
            <a:normAutofit/>
          </a:bodyPr>
          <a:lstStyle>
            <a:lvl1pPr>
              <a:defRPr sz="5175">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314325" y="164592"/>
            <a:ext cx="1992134"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6600825" y="164592"/>
            <a:ext cx="1434942"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468744" y="164592"/>
            <a:ext cx="416961" cy="253746"/>
          </a:xfrm>
        </p:spPr>
        <p:txBody>
          <a:bodyPr/>
          <a:lstStyle>
            <a:lvl1pPr>
              <a:defRPr>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4365298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1"/>
            <a:ext cx="9144000" cy="215182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76276" y="1604082"/>
            <a:ext cx="4824950" cy="1471612"/>
          </a:xfrm>
        </p:spPr>
        <p:txBody>
          <a:bodyPr anchor="t">
            <a:normAutofit/>
          </a:bodyPr>
          <a:lstStyle>
            <a:lvl1pPr>
              <a:defRPr sz="66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514975" y="161144"/>
            <a:ext cx="1114425"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14976" y="1604082"/>
            <a:ext cx="2788815" cy="3082218"/>
          </a:xfrm>
        </p:spPr>
        <p:txBody>
          <a:bodyPr vert="horz" lIns="91440" tIns="45720" rIns="91440" bIns="45720" rtlCol="0" anchor="t">
            <a:normAutofit/>
          </a:bodyPr>
          <a:lstStyle>
            <a:lvl1pPr marL="342900" indent="-342900">
              <a:buFont typeface="+mj-lt"/>
              <a:buAutoNum type="arabicPeriod"/>
              <a:defRPr lang="en-US" sz="1050" dirty="0">
                <a:solidFill>
                  <a:schemeClr val="tx1"/>
                </a:solidFill>
              </a:defRPr>
            </a:lvl1pPr>
            <a:lvl2pPr marL="428625" indent="-257175">
              <a:buFont typeface="+mj-lt"/>
              <a:buAutoNum type="arabicPeriod"/>
              <a:defRPr lang="en-US" sz="1050" dirty="0">
                <a:solidFill>
                  <a:schemeClr val="tx1"/>
                </a:solidFill>
              </a:defRPr>
            </a:lvl2pPr>
            <a:lvl3pPr marL="600075" indent="-257175">
              <a:buFont typeface="+mj-lt"/>
              <a:buAutoNum type="arabicPeriod"/>
              <a:defRPr lang="en-US" sz="1050" dirty="0">
                <a:solidFill>
                  <a:schemeClr val="tx1"/>
                </a:solidFill>
              </a:defRPr>
            </a:lvl3pPr>
            <a:lvl4pPr>
              <a:buFont typeface="+mj-lt"/>
              <a:buAutoNum type="arabicPeriod"/>
              <a:defRPr lang="en-US" sz="1050" dirty="0">
                <a:solidFill>
                  <a:schemeClr val="tx1"/>
                </a:solidFill>
              </a:defRPr>
            </a:lvl4pPr>
            <a:lvl5pPr>
              <a:buFont typeface="+mj-lt"/>
              <a:buAutoNum type="arabicPeriod"/>
              <a:defRPr lang="en-US" sz="105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7338190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7487" y="1916813"/>
            <a:ext cx="9144000" cy="3257931"/>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93139" y="2611285"/>
            <a:ext cx="4122320" cy="1569204"/>
          </a:xfrm>
        </p:spPr>
        <p:txBody>
          <a:bodyPr anchor="t">
            <a:normAutofit/>
          </a:bodyPr>
          <a:lstStyle>
            <a:lvl1pPr>
              <a:defRPr sz="57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1"/>
            <a:ext cx="9144000" cy="1916813"/>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25246" y="2050551"/>
            <a:ext cx="2045498" cy="253746"/>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39176" y="2050551"/>
            <a:ext cx="1190033"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87461" y="2050551"/>
            <a:ext cx="395021" cy="253746"/>
          </a:xfrm>
        </p:spPr>
        <p:txBody>
          <a:bodyPr/>
          <a:lstStyle>
            <a:lvl1pPr>
              <a:defRPr>
                <a:solidFill>
                  <a:schemeClr val="tx1"/>
                </a:solidFill>
              </a:defRPr>
            </a:lvl1pPr>
          </a:lstStyle>
          <a:p>
            <a:fld id="{C8116806-1FD2-4A57-B5EA-7014AB76383B}"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39176" y="2611285"/>
            <a:ext cx="2937077" cy="2074415"/>
          </a:xfrm>
        </p:spPr>
        <p:txBody>
          <a:bodyPr vert="horz" lIns="91440" tIns="45720" rIns="91440" bIns="45720" rtlCol="0">
            <a:normAutofit/>
          </a:bodyPr>
          <a:lstStyle>
            <a:lvl1pPr marL="257175" indent="-257175">
              <a:lnSpc>
                <a:spcPct val="130000"/>
              </a:lnSpc>
              <a:buFont typeface="+mj-lt"/>
              <a:buAutoNum type="arabicPeriod"/>
              <a:defRPr lang="en-US" sz="1050" dirty="0">
                <a:solidFill>
                  <a:schemeClr val="tx1"/>
                </a:solidFill>
              </a:defRPr>
            </a:lvl1pPr>
            <a:lvl2pPr marL="428625" indent="-257175">
              <a:lnSpc>
                <a:spcPct val="130000"/>
              </a:lnSpc>
              <a:buFont typeface="+mj-lt"/>
              <a:buAutoNum type="arabicPeriod"/>
              <a:defRPr lang="en-US" sz="1050" dirty="0">
                <a:solidFill>
                  <a:schemeClr val="tx1"/>
                </a:solidFill>
              </a:defRPr>
            </a:lvl2pPr>
            <a:lvl3pPr marL="600075" indent="-257175">
              <a:lnSpc>
                <a:spcPct val="130000"/>
              </a:lnSpc>
              <a:buFont typeface="+mj-lt"/>
              <a:buAutoNum type="arabicPeriod"/>
              <a:defRPr lang="en-US" sz="1050" dirty="0">
                <a:solidFill>
                  <a:schemeClr val="tx1"/>
                </a:solidFill>
              </a:defRPr>
            </a:lvl3pPr>
            <a:lvl4pPr>
              <a:lnSpc>
                <a:spcPct val="130000"/>
              </a:lnSpc>
              <a:buFont typeface="+mj-lt"/>
              <a:buAutoNum type="arabicPeriod"/>
              <a:defRPr lang="en-US" sz="1050" dirty="0">
                <a:solidFill>
                  <a:schemeClr val="tx1"/>
                </a:solidFill>
              </a:defRPr>
            </a:lvl4pPr>
            <a:lvl5pPr>
              <a:lnSpc>
                <a:spcPct val="130000"/>
              </a:lnSpc>
              <a:buFont typeface="+mj-lt"/>
              <a:buAutoNum type="arabicPeriod"/>
              <a:defRPr lang="en-US" sz="1050" dirty="0">
                <a:solidFill>
                  <a:schemeClr val="tx1"/>
                </a:solidFill>
              </a:defRPr>
            </a:lvl5pPr>
          </a:lstStyle>
          <a:p>
            <a:pPr marL="171450" lvl="0" indent="-171450"/>
            <a:r>
              <a:rPr lang="en-US"/>
              <a:t>Click to edit Master text styles</a:t>
            </a:r>
          </a:p>
          <a:p>
            <a:pPr marL="171450" lvl="1" indent="-171450"/>
            <a:r>
              <a:rPr lang="en-US"/>
              <a:t>Second level</a:t>
            </a:r>
          </a:p>
          <a:p>
            <a:pPr marL="171450" lvl="2" indent="-171450"/>
            <a:r>
              <a:rPr lang="en-US"/>
              <a:t>Third level</a:t>
            </a:r>
          </a:p>
          <a:p>
            <a:pPr marL="171450" lvl="3" indent="-171450"/>
            <a:r>
              <a:rPr lang="en-US"/>
              <a:t>Fourth level</a:t>
            </a:r>
          </a:p>
          <a:p>
            <a:pPr marL="171450" lvl="4" indent="-171450"/>
            <a:r>
              <a:rPr lang="en-US"/>
              <a:t>Fifth level</a:t>
            </a:r>
            <a:endParaRPr lang="en-US" dirty="0"/>
          </a:p>
        </p:txBody>
      </p:sp>
    </p:spTree>
    <p:extLst>
      <p:ext uri="{BB962C8B-B14F-4D97-AF65-F5344CB8AC3E}">
        <p14:creationId xmlns:p14="http://schemas.microsoft.com/office/powerpoint/2010/main" val="402435590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4743451" y="1"/>
            <a:ext cx="4410941" cy="51435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14139" y="957742"/>
            <a:ext cx="4033700" cy="739244"/>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324295" y="161144"/>
            <a:ext cx="2044782"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600825" y="161144"/>
            <a:ext cx="1456380"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67721" y="161144"/>
            <a:ext cx="416961" cy="253746"/>
          </a:xfrm>
        </p:spPr>
        <p:txBody>
          <a:bodyPr/>
          <a:lstStyle>
            <a:lvl1pPr>
              <a:defRPr>
                <a:solidFill>
                  <a:schemeClr val="tx1"/>
                </a:solidFill>
              </a:defRPr>
            </a:lvl1pPr>
          </a:lstStyle>
          <a:p>
            <a:fld id="{C8116806-1FD2-4A57-B5EA-7014AB76383B}"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320608" y="1853802"/>
            <a:ext cx="4033701" cy="2747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92323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3305175"/>
            <a:ext cx="6858000" cy="183832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00175" y="1415034"/>
            <a:ext cx="2630992" cy="2425446"/>
          </a:xfrm>
        </p:spPr>
        <p:txBody>
          <a:bodyPr anchor="t">
            <a:normAutofit/>
          </a:bodyPr>
          <a:lstStyle>
            <a:lvl1pPr>
              <a:defRPr sz="24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314325" y="156296"/>
            <a:ext cx="1899089"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00550" y="156296"/>
            <a:ext cx="1513161"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72441" y="156296"/>
            <a:ext cx="414867" cy="253746"/>
          </a:xfrm>
        </p:spPr>
        <p:txBody>
          <a:bodyPr/>
          <a:lstStyle>
            <a:lvl1pPr>
              <a:defRPr>
                <a:solidFill>
                  <a:schemeClr val="tx1"/>
                </a:solidFill>
              </a:defRPr>
            </a:lvl1p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400551" y="1415034"/>
            <a:ext cx="3371850" cy="2425446"/>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1208302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327" y="836676"/>
            <a:ext cx="1878948" cy="121809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164592"/>
            <a:ext cx="2013036"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30548" y="161867"/>
            <a:ext cx="1114425" cy="253746"/>
          </a:xfrm>
        </p:spPr>
        <p:txBody>
          <a:bodyPr/>
          <a:lstStyle>
            <a:lvl1pPr>
              <a:defRPr>
                <a:solidFill>
                  <a:schemeClr val="tx1"/>
                </a:solidFill>
                <a:effectLst/>
              </a:defRPr>
            </a:lvl1p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3682" y="161867"/>
            <a:ext cx="411954" cy="253746"/>
          </a:xfrm>
        </p:spPr>
        <p:txBody>
          <a:body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21327" y="2271392"/>
            <a:ext cx="1878948" cy="2557784"/>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2530548" y="885825"/>
            <a:ext cx="6613452" cy="425767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775282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836676"/>
            <a:ext cx="3000375" cy="1014387"/>
          </a:xfrm>
        </p:spPr>
        <p:txBody>
          <a:bodyPr anchor="t">
            <a:normAutofit/>
          </a:bodyPr>
          <a:lstStyle>
            <a:lvl1pPr>
              <a:defRPr sz="225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14325" y="164592"/>
            <a:ext cx="2045948"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35924" y="164592"/>
            <a:ext cx="1310831" cy="253746"/>
          </a:xfrm>
        </p:spPr>
        <p:txBody>
          <a:body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0461" y="162210"/>
            <a:ext cx="413335" cy="253746"/>
          </a:xfrm>
        </p:spPr>
        <p:txBody>
          <a:body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5924" y="828675"/>
            <a:ext cx="5193752" cy="1014387"/>
          </a:xfrm>
        </p:spPr>
        <p:txBody>
          <a:bodyPr>
            <a:normAutofit/>
          </a:bodyPr>
          <a:lstStyle>
            <a:lvl1pPr marL="214313" indent="-214313">
              <a:buFont typeface="Arial" panose="020B0604020202020204" pitchFamily="34" charset="0"/>
              <a:buNone/>
              <a:defRPr sz="1050"/>
            </a:lvl1pPr>
            <a:lvl2pPr marL="385763" indent="-214313">
              <a:buFont typeface="Arial" panose="020B0604020202020204" pitchFamily="34" charset="0"/>
              <a:buNone/>
              <a:defRPr sz="1050"/>
            </a:lvl2pPr>
            <a:lvl3pPr marL="557213" indent="-214313">
              <a:buFont typeface="Arial" panose="020B0604020202020204" pitchFamily="34" charset="0"/>
              <a:buNone/>
              <a:defRPr sz="1050"/>
            </a:lvl3pPr>
            <a:lvl4pPr marL="642938" indent="-128588">
              <a:buFont typeface="Arial" panose="020B0604020202020204" pitchFamily="34" charset="0"/>
              <a:buNone/>
              <a:defRPr sz="1050"/>
            </a:lvl4pPr>
            <a:lvl5pPr marL="814388" indent="-128588">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203882"/>
            <a:ext cx="9144000" cy="293961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3824323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836677"/>
            <a:ext cx="1885950" cy="218918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161144"/>
            <a:ext cx="1885950" cy="253746"/>
          </a:xfrm>
        </p:spPr>
        <p:txBody>
          <a:bodyPr/>
          <a:lstStyle>
            <a:lvl1pPr>
              <a:defRPr>
                <a:solidFill>
                  <a:schemeClr val="tx1"/>
                </a:solidFill>
                <a:effectLst/>
              </a:defRPr>
            </a:lvl1pPr>
          </a:lstStyle>
          <a:p>
            <a:r>
              <a:rPr lang="en-US"/>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2567811" y="1"/>
            <a:ext cx="6576190" cy="298928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14600" y="3058221"/>
            <a:ext cx="1440180" cy="253746"/>
          </a:xfrm>
        </p:spPr>
        <p:txBody>
          <a:body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8743" y="3058221"/>
            <a:ext cx="416961" cy="253746"/>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2514600" y="3317682"/>
            <a:ext cx="6315075" cy="136861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24868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1005" y="836677"/>
            <a:ext cx="3935683" cy="74559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164592"/>
            <a:ext cx="2200275"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422434" y="156816"/>
            <a:ext cx="1383033" cy="253746"/>
          </a:xfrm>
        </p:spPr>
        <p:txBody>
          <a:bodyPr/>
          <a:lstStyle>
            <a:lvl1pPr>
              <a:defRPr>
                <a:solidFill>
                  <a:schemeClr val="tx1"/>
                </a:solidFill>
                <a:effectLst/>
              </a:defRPr>
            </a:lvl1p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500639" y="156816"/>
            <a:ext cx="416961" cy="253746"/>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885825"/>
            <a:ext cx="3935683" cy="4257675"/>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4411005" y="1600200"/>
            <a:ext cx="3935683" cy="30861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833682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9543" y="836676"/>
            <a:ext cx="2705753" cy="2377909"/>
          </a:xfrm>
        </p:spPr>
        <p:txBody>
          <a:bodyPr anchor="t">
            <a:normAutofit/>
          </a:bodyPr>
          <a:lstStyle>
            <a:lvl1pPr>
              <a:defRPr sz="225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161144"/>
            <a:ext cx="1947830"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34432" y="161144"/>
            <a:ext cx="1190033" cy="253746"/>
          </a:xfrm>
        </p:spPr>
        <p:txBody>
          <a:body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3208" y="161144"/>
            <a:ext cx="416961" cy="253746"/>
          </a:xfrm>
        </p:spPr>
        <p:txBody>
          <a:body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4432" y="834504"/>
            <a:ext cx="5195243" cy="1475856"/>
          </a:xfrm>
        </p:spPr>
        <p:txBody>
          <a:bodyPr>
            <a:norm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3677310" y="2625153"/>
            <a:ext cx="5466691" cy="2518348"/>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91520001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4295" y="2571751"/>
            <a:ext cx="1875980" cy="1913987"/>
          </a:xfrm>
        </p:spPr>
        <p:txBody>
          <a:bodyPr anchor="t">
            <a:normAutofit/>
          </a:bodyPr>
          <a:lstStyle>
            <a:lvl1pPr>
              <a:defRPr sz="225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9144000" cy="2028824"/>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2148968"/>
            <a:ext cx="2044782"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14600" y="2148968"/>
            <a:ext cx="1475509" cy="253746"/>
          </a:xfrm>
        </p:spPr>
        <p:txBody>
          <a:body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8743" y="2148968"/>
            <a:ext cx="416961" cy="253746"/>
          </a:xfrm>
        </p:spPr>
        <p:txBody>
          <a:body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514600" y="2571750"/>
            <a:ext cx="6157653" cy="2257425"/>
          </a:xfrm>
        </p:spPr>
        <p:txBody>
          <a:bodyPr>
            <a:norm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64091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34673" y="836676"/>
            <a:ext cx="2702442" cy="105740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29025" y="156816"/>
            <a:ext cx="1885950" cy="253746"/>
          </a:xfrm>
        </p:spPr>
        <p:txBody>
          <a:body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4515" y="164592"/>
            <a:ext cx="423256" cy="253746"/>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34673" y="2028825"/>
            <a:ext cx="2702442" cy="2771775"/>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3701452" y="881743"/>
            <a:ext cx="5442548" cy="4261757"/>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92072426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3455719"/>
            <a:ext cx="3314700" cy="1230581"/>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435" y="1"/>
            <a:ext cx="3627590" cy="3160643"/>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55956" y="156816"/>
            <a:ext cx="2044782"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00825" y="161144"/>
            <a:ext cx="1428938" cy="253746"/>
          </a:xfrm>
        </p:spPr>
        <p:txBody>
          <a:bodyPr/>
          <a:lstStyle>
            <a:lvl1pPr>
              <a:defRPr>
                <a:solidFill>
                  <a:schemeClr val="tx1"/>
                </a:solidFill>
                <a:effectLst/>
              </a:defRPr>
            </a:lvl1p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55957" y="828675"/>
            <a:ext cx="4312786" cy="385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261789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6" y="836676"/>
            <a:ext cx="2329001" cy="1227383"/>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161144"/>
            <a:ext cx="2044782"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41641" y="161144"/>
            <a:ext cx="1902741" cy="253746"/>
          </a:xfrm>
        </p:spPr>
        <p:txBody>
          <a:body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9630" y="161144"/>
            <a:ext cx="416961" cy="253746"/>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2263140"/>
            <a:ext cx="2563427" cy="288036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041642" y="828676"/>
            <a:ext cx="5607428" cy="40004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7499673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9144000" cy="5148072"/>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5829300" y="3811784"/>
            <a:ext cx="3000375" cy="876923"/>
          </a:xfrm>
        </p:spPr>
        <p:txBody>
          <a:bodyPr anchor="b">
            <a:normAutofit/>
          </a:bodyPr>
          <a:lstStyle>
            <a:lvl1pPr>
              <a:defRPr sz="1500" spc="-38"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5829300" y="156816"/>
            <a:ext cx="1478018"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10742" y="797719"/>
            <a:ext cx="7821215" cy="2631281"/>
          </a:xfrm>
        </p:spPr>
        <p:txBody>
          <a:bodyPr>
            <a:noAutofit/>
          </a:bodyPr>
          <a:lstStyle>
            <a:lvl1pPr>
              <a:lnSpc>
                <a:spcPct val="80000"/>
              </a:lnSpc>
              <a:defRPr sz="19500"/>
            </a:lvl1pPr>
          </a:lstStyle>
          <a:p>
            <a:pPr lvl="0"/>
            <a:r>
              <a:rPr lang="en-US" dirty="0"/>
              <a:t>XX%</a:t>
            </a:r>
          </a:p>
        </p:txBody>
      </p:sp>
    </p:spTree>
    <p:extLst>
      <p:ext uri="{BB962C8B-B14F-4D97-AF65-F5344CB8AC3E}">
        <p14:creationId xmlns:p14="http://schemas.microsoft.com/office/powerpoint/2010/main" val="677058304"/>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1"/>
            <a:ext cx="9144000" cy="3602114"/>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850392"/>
            <a:ext cx="7989570" cy="6858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0C9DF407-AAD9-4F9F-B512-267BEB339CF5}" type="datetime1">
              <a:rPr lang="en-US" smtClean="0"/>
              <a:t>8/18/2026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4325" y="2164205"/>
            <a:ext cx="6600826" cy="2664970"/>
          </a:xfrm>
        </p:spPr>
        <p:txBody>
          <a:bodyPr anchor="b">
            <a:normAutofit/>
          </a:bodyPr>
          <a:lstStyle>
            <a:lvl1pPr marL="0" indent="0">
              <a:lnSpc>
                <a:spcPct val="85000"/>
              </a:lnSpc>
              <a:buNone/>
              <a:defRPr sz="4500" b="0" spc="-38" baseline="0">
                <a:solidFill>
                  <a:schemeClr val="tx1"/>
                </a:solidFill>
              </a:defRPr>
            </a:lvl1pPr>
            <a:lvl2pPr marL="171450" indent="0">
              <a:lnSpc>
                <a:spcPct val="85000"/>
              </a:lnSpc>
              <a:buNone/>
              <a:defRPr sz="3300" b="0" spc="-38" baseline="0">
                <a:solidFill>
                  <a:schemeClr val="tx1"/>
                </a:solidFill>
              </a:defRPr>
            </a:lvl2pPr>
            <a:lvl3pPr marL="342900" indent="0">
              <a:lnSpc>
                <a:spcPct val="85000"/>
              </a:lnSpc>
              <a:buNone/>
              <a:defRPr sz="3000" b="0" spc="-38" baseline="0">
                <a:solidFill>
                  <a:schemeClr val="tx1"/>
                </a:solidFill>
              </a:defRPr>
            </a:lvl3pPr>
            <a:lvl4pPr marL="514350" indent="0">
              <a:lnSpc>
                <a:spcPct val="85000"/>
              </a:lnSpc>
              <a:buNone/>
              <a:defRPr sz="2700" b="0" spc="-38" baseline="0">
                <a:solidFill>
                  <a:schemeClr val="tx1"/>
                </a:solidFill>
              </a:defRPr>
            </a:lvl4pPr>
            <a:lvl5pPr marL="685800" indent="0">
              <a:lnSpc>
                <a:spcPct val="85000"/>
              </a:lnSpc>
              <a:buNone/>
              <a:defRPr sz="2400" b="0" spc="-38"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233674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9144000" cy="514807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400175" y="3655664"/>
            <a:ext cx="6379925" cy="499820"/>
          </a:xfrm>
        </p:spPr>
        <p:txBody>
          <a:bodyPr anchor="ctr">
            <a:normAutofit/>
          </a:bodyPr>
          <a:lstStyle>
            <a:lvl1pPr algn="r">
              <a:lnSpc>
                <a:spcPct val="90000"/>
              </a:lnSpc>
              <a:defRPr sz="1050" b="0" cap="all" spc="75"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0C9DF407-AAD9-4F9F-B512-267BEB339CF5}" type="datetime1">
              <a:rPr lang="en-US" smtClean="0"/>
              <a:t>8/18/2026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400175" y="1392072"/>
            <a:ext cx="6379925" cy="2141541"/>
          </a:xfrm>
        </p:spPr>
        <p:txBody>
          <a:bodyPr anchor="ctr">
            <a:normAutofit/>
          </a:bodyPr>
          <a:lstStyle>
            <a:lvl1pPr marL="123444" indent="-123444">
              <a:lnSpc>
                <a:spcPct val="90000"/>
              </a:lnSpc>
              <a:spcBef>
                <a:spcPts val="0"/>
              </a:spcBef>
              <a:buFont typeface="Arial" panose="020B0604020202020204" pitchFamily="34" charset="0"/>
              <a:buNone/>
              <a:defRPr sz="3750" spc="-38"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705179200"/>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836676"/>
            <a:ext cx="6286500" cy="52624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0C9DF407-AAD9-4F9F-B512-267BEB339CF5}" type="datetime1">
              <a:rPr lang="en-US" smtClean="0"/>
              <a:t>8/18/2026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323850" y="1425178"/>
            <a:ext cx="3693319" cy="326112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4409118" y="1425178"/>
            <a:ext cx="3693319" cy="326112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813528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13992" y="699073"/>
            <a:ext cx="8126654" cy="52806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600825" y="161144"/>
            <a:ext cx="1440180" cy="253746"/>
          </a:xfrm>
        </p:spPr>
        <p:txBody>
          <a:bodyPr/>
          <a:lstStyle>
            <a:lvl1pPr>
              <a:defRPr>
                <a:solidFill>
                  <a:schemeClr val="tx1"/>
                </a:solidFill>
              </a:defRPr>
            </a:lvl1pPr>
          </a:lstStyle>
          <a:p>
            <a:fld id="{0C9DF407-AAD9-4F9F-B512-267BEB339CF5}" type="datetime1">
              <a:rPr lang="en-US" smtClean="0"/>
              <a:t>8/18/2026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13991" y="1256710"/>
            <a:ext cx="3685439" cy="419876"/>
          </a:xfrm>
        </p:spPr>
        <p:txBody>
          <a:bodyPr anchor="b">
            <a:normAutofit/>
          </a:bodyPr>
          <a:lstStyle>
            <a:lvl1pPr marL="0" indent="0">
              <a:lnSpc>
                <a:spcPct val="90000"/>
              </a:lnSpc>
              <a:buNone/>
              <a:defRPr sz="1200" b="1"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323850" y="1713766"/>
            <a:ext cx="3675580" cy="29725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714875" y="1256710"/>
            <a:ext cx="3725771" cy="419876"/>
          </a:xfrm>
        </p:spPr>
        <p:txBody>
          <a:bodyPr anchor="b">
            <a:normAutofit/>
          </a:bodyPr>
          <a:lstStyle>
            <a:lvl1pPr marL="0" indent="0">
              <a:lnSpc>
                <a:spcPct val="90000"/>
              </a:lnSpc>
              <a:buNone/>
              <a:defRPr sz="1200" b="1"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4709551" y="1713766"/>
            <a:ext cx="3737072" cy="29725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3446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15594" y="835133"/>
            <a:ext cx="6285232" cy="657145"/>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1C995DE8-BB4A-408C-A60C-374B496D02BA}" type="datetime1">
              <a:rPr lang="en-US" smtClean="0"/>
              <a:t>8/18/2026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31131115"/>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0C9DF407-AAD9-4F9F-B512-267BEB339CF5}" type="datetime1">
              <a:rPr lang="en-US" smtClean="0"/>
              <a:t>8/18/2026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20264474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0" y="0"/>
            <a:ext cx="9143999" cy="51435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4295" y="569214"/>
            <a:ext cx="5707251" cy="1301150"/>
          </a:xfrm>
        </p:spPr>
        <p:txBody>
          <a:bodyPr anchor="t">
            <a:noAutofit/>
          </a:bodyPr>
          <a:lstStyle>
            <a:lvl1pPr>
              <a:defRPr sz="5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14325" y="2028826"/>
            <a:ext cx="6600825" cy="2210663"/>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918557"/>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0" y="0"/>
            <a:ext cx="9143999" cy="51435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315594" y="2028579"/>
            <a:ext cx="4099245" cy="2050038"/>
          </a:xfrm>
        </p:spPr>
        <p:txBody>
          <a:bodyPr/>
          <a:lstStyle>
            <a:lvl1pPr>
              <a:defRPr sz="54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8116806-1FD2-4A57-B5EA-7014AB76383B}"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4729163" y="2028825"/>
            <a:ext cx="3307556" cy="11715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6961938"/>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18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15594" y="835133"/>
            <a:ext cx="7456807" cy="65714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22063" y="1600200"/>
            <a:ext cx="7456807" cy="32289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324295" y="161144"/>
            <a:ext cx="2044782" cy="253746"/>
          </a:xfrm>
          <a:prstGeom prst="rect">
            <a:avLst/>
          </a:prstGeom>
        </p:spPr>
        <p:txBody>
          <a:bodyPr vert="horz" lIns="91440" tIns="45720" rIns="91440" bIns="45720" rtlCol="0" anchor="ctr"/>
          <a:lstStyle>
            <a:lvl1pPr algn="l" rtl="0">
              <a:defRPr sz="525"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600825" y="161144"/>
            <a:ext cx="1440180" cy="253746"/>
          </a:xfrm>
          <a:prstGeom prst="rect">
            <a:avLst/>
          </a:prstGeom>
        </p:spPr>
        <p:txBody>
          <a:bodyPr vert="horz" lIns="91440" tIns="45720" rIns="91440" bIns="45720" rtlCol="0" anchor="ctr"/>
          <a:lstStyle>
            <a:lvl1pPr algn="l" rtl="0">
              <a:defRPr sz="525" cap="all" baseline="0">
                <a:solidFill>
                  <a:schemeClr val="tx1"/>
                </a:solidFill>
              </a:defRPr>
            </a:lvl1pPr>
          </a:lstStyle>
          <a:p>
            <a:fld id="{0C9DF407-AAD9-4F9F-B512-267BEB339CF5}" type="datetime1">
              <a:rPr lang="en-US" smtClean="0"/>
              <a:t>8/18/2026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468743" y="161144"/>
            <a:ext cx="416961" cy="253746"/>
          </a:xfrm>
          <a:prstGeom prst="rect">
            <a:avLst/>
          </a:prstGeom>
        </p:spPr>
        <p:txBody>
          <a:bodyPr vert="horz" lIns="91440" tIns="45720" rIns="91440" bIns="45720" rtlCol="0" anchor="ctr"/>
          <a:lstStyle>
            <a:lvl1pPr algn="r" rtl="0">
              <a:defRPr sz="525" cap="all" baseline="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39392282"/>
      </p:ext>
    </p:extLst>
  </p:cSld>
  <p:clrMap bg1="dk1" tx1="lt1" bg2="dk2" tx2="lt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 id="2147483890" r:id="rId17"/>
    <p:sldLayoutId id="2147483891" r:id="rId18"/>
    <p:sldLayoutId id="2147483892" r:id="rId19"/>
    <p:sldLayoutId id="2147483893" r:id="rId20"/>
    <p:sldLayoutId id="2147483894" r:id="rId21"/>
    <p:sldLayoutId id="2147483895" r:id="rId22"/>
    <p:sldLayoutId id="2147483896" r:id="rId23"/>
    <p:sldLayoutId id="2147483897" r:id="rId24"/>
    <p:sldLayoutId id="2147483898" r:id="rId25"/>
    <p:sldLayoutId id="2147483899" r:id="rId26"/>
    <p:sldLayoutId id="2147483900" r:id="rId27"/>
    <p:sldLayoutId id="2147483901" r:id="rId28"/>
  </p:sldLayoutIdLst>
  <p:hf sldNum="0" hdr="0" ftr="0" dt="0"/>
  <p:txStyles>
    <p:titleStyle>
      <a:lvl1pPr algn="l" defTabSz="685800" rtl="0" eaLnBrk="1" latinLnBrk="0" hangingPunct="1">
        <a:lnSpc>
          <a:spcPct val="85000"/>
        </a:lnSpc>
        <a:spcBef>
          <a:spcPct val="0"/>
        </a:spcBef>
        <a:buNone/>
        <a:defRPr sz="2250" b="0" kern="1200" spc="-83" baseline="0">
          <a:solidFill>
            <a:schemeClr val="tx1"/>
          </a:solidFill>
          <a:latin typeface="+mj-lt"/>
          <a:ea typeface="+mj-ea"/>
          <a:cs typeface="+mj-cs"/>
        </a:defRPr>
      </a:lvl1pPr>
    </p:titleStyle>
    <p:bodyStyle>
      <a:lvl1pPr marL="0" indent="0" algn="l" defTabSz="685800" rtl="0" eaLnBrk="1" latinLnBrk="0" hangingPunct="1">
        <a:lnSpc>
          <a:spcPct val="120000"/>
        </a:lnSpc>
        <a:spcBef>
          <a:spcPts val="750"/>
        </a:spcBef>
        <a:buFont typeface="Arial" panose="020B0604020202020204" pitchFamily="34" charset="0"/>
        <a:buNone/>
        <a:defRPr sz="1050" kern="1200">
          <a:solidFill>
            <a:schemeClr val="tx1"/>
          </a:solidFill>
          <a:latin typeface="+mn-lt"/>
          <a:ea typeface="+mn-ea"/>
          <a:cs typeface="+mn-cs"/>
        </a:defRPr>
      </a:lvl1pPr>
      <a:lvl2pPr marL="17145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2pPr>
      <a:lvl3pPr marL="34290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3pPr>
      <a:lvl4pPr marL="51435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4pPr>
      <a:lvl5pPr marL="68580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8.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8.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8.xml"/><Relationship Id="rId1" Type="http://schemas.openxmlformats.org/officeDocument/2006/relationships/slideLayout" Target="../slideLayouts/slideLayout28.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9.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notesSlide" Target="../notesSlides/notesSlide9.xml"/><Relationship Id="rId1" Type="http://schemas.openxmlformats.org/officeDocument/2006/relationships/slideLayout" Target="../slideLayouts/slideLayout28.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png"/><Relationship Id="rId9"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4068"/>
            <a:ext cx="3429000" cy="5143500"/>
          </a:xfrm>
          <a:prstGeom prst="rect">
            <a:avLst/>
          </a:prstGeom>
        </p:spPr>
      </p:pic>
      <p:sp>
        <p:nvSpPr>
          <p:cNvPr id="3" name="Text 0"/>
          <p:cNvSpPr/>
          <p:nvPr/>
        </p:nvSpPr>
        <p:spPr>
          <a:xfrm>
            <a:off x="3952577" y="887388"/>
            <a:ext cx="4667845" cy="132003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F98AC7"/>
                </a:solidFill>
                <a:latin typeface="Lora" pitchFamily="34" charset="0"/>
                <a:ea typeface="Lora" pitchFamily="34" charset="-122"/>
                <a:cs typeface="Lora" pitchFamily="34" charset="-120"/>
              </a:rPr>
              <a:t>E-Commerce Product Entity-Resolution &amp; Matching Platform</a:t>
            </a:r>
            <a:endParaRPr lang="en-US" sz="2750" dirty="0"/>
          </a:p>
        </p:txBody>
      </p:sp>
      <p:sp>
        <p:nvSpPr>
          <p:cNvPr id="4" name="Text 1"/>
          <p:cNvSpPr/>
          <p:nvPr/>
        </p:nvSpPr>
        <p:spPr>
          <a:xfrm>
            <a:off x="3952577" y="2431777"/>
            <a:ext cx="4667845"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6E5EF"/>
                </a:solidFill>
                <a:latin typeface="Source Sans 3" pitchFamily="34" charset="0"/>
                <a:ea typeface="Source Sans 3" pitchFamily="34" charset="-122"/>
                <a:cs typeface="Source Sans 3" pitchFamily="34" charset="-120"/>
              </a:rPr>
              <a:t>Data Structures and Algorithms – 3 (25CS2103E)  |  Academic Year: 2026–2027</a:t>
            </a:r>
            <a:endParaRPr lang="en-US" sz="1150" dirty="0"/>
          </a:p>
        </p:txBody>
      </p:sp>
      <p:sp>
        <p:nvSpPr>
          <p:cNvPr id="5" name="Shape 2"/>
          <p:cNvSpPr/>
          <p:nvPr/>
        </p:nvSpPr>
        <p:spPr>
          <a:xfrm>
            <a:off x="3952577" y="3247058"/>
            <a:ext cx="768028" cy="227335"/>
          </a:xfrm>
          <a:prstGeom prst="roundRect">
            <a:avLst>
              <a:gd name="adj" fmla="val 7897"/>
            </a:avLst>
          </a:prstGeom>
          <a:noFill/>
          <a:ln w="4763">
            <a:solidFill>
              <a:srgbClr val="F98AC7"/>
            </a:solidFill>
            <a:prstDash val="solid"/>
          </a:ln>
        </p:spPr>
      </p:sp>
      <p:sp>
        <p:nvSpPr>
          <p:cNvPr id="6" name="Text 3"/>
          <p:cNvSpPr/>
          <p:nvPr/>
        </p:nvSpPr>
        <p:spPr>
          <a:xfrm>
            <a:off x="4042321" y="3291929"/>
            <a:ext cx="1045741" cy="137592"/>
          </a:xfrm>
          <a:prstGeom prst="rect">
            <a:avLst/>
          </a:prstGeom>
          <a:noFill/>
          <a:ln/>
        </p:spPr>
        <p:txBody>
          <a:bodyPr wrap="none" lIns="0" tIns="0" rIns="0" bIns="0" rtlCol="0" anchor="t"/>
          <a:lstStyle/>
          <a:p>
            <a:pPr marL="0" indent="0" algn="l">
              <a:lnSpc>
                <a:spcPct val="96000"/>
              </a:lnSpc>
              <a:buNone/>
            </a:pPr>
            <a:r>
              <a:rPr lang="en-US" sz="900" dirty="0">
                <a:solidFill>
                  <a:srgbClr val="F98AC7"/>
                </a:solidFill>
                <a:latin typeface="Source Sans 3" pitchFamily="34" charset="0"/>
                <a:ea typeface="Source Sans 3" pitchFamily="34" charset="-122"/>
                <a:cs typeface="Source Sans 3" pitchFamily="34" charset="-120"/>
              </a:rPr>
              <a:t>SECTION 10</a:t>
            </a:r>
            <a:endParaRPr lang="en-US" sz="900" dirty="0"/>
          </a:p>
        </p:txBody>
      </p:sp>
      <p:sp>
        <p:nvSpPr>
          <p:cNvPr id="7" name="Text 4"/>
          <p:cNvSpPr/>
          <p:nvPr/>
        </p:nvSpPr>
        <p:spPr>
          <a:xfrm>
            <a:off x="3952577" y="3642643"/>
            <a:ext cx="2151459" cy="478780"/>
          </a:xfrm>
          <a:prstGeom prst="rect">
            <a:avLst/>
          </a:prstGeom>
          <a:noFill/>
          <a:ln/>
        </p:spPr>
        <p:txBody>
          <a:bodyPr wrap="square" lIns="0" tIns="0" rIns="0" bIns="0" rtlCol="0" anchor="t">
            <a:normAutofit/>
          </a:bodyPr>
          <a:lstStyle/>
          <a:p>
            <a:pPr marL="0" indent="0" algn="l">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Shivam Tiwari</a:t>
            </a:r>
            <a:r>
              <a:rPr lang="en-US" sz="1150" dirty="0">
                <a:solidFill>
                  <a:srgbClr val="D6E5EF"/>
                </a:solidFill>
                <a:latin typeface="Source Sans 3" pitchFamily="34" charset="0"/>
                <a:ea typeface="Source Sans 3" pitchFamily="34" charset="-122"/>
                <a:cs typeface="Source Sans 3" pitchFamily="34" charset="-120"/>
              </a:rPr>
              <a:t> – 2520080026</a:t>
            </a:r>
            <a:endParaRPr lang="en-US" sz="1150" dirty="0"/>
          </a:p>
          <a:p>
            <a:pPr marL="0" indent="0" algn="l">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Balaji Patil</a:t>
            </a:r>
            <a:r>
              <a:rPr lang="en-US" sz="1150" dirty="0">
                <a:solidFill>
                  <a:srgbClr val="D6E5EF"/>
                </a:solidFill>
                <a:latin typeface="Source Sans 3" pitchFamily="34" charset="0"/>
                <a:ea typeface="Source Sans 3" pitchFamily="34" charset="-122"/>
                <a:cs typeface="Source Sans 3" pitchFamily="34" charset="-120"/>
              </a:rPr>
              <a:t> – 2520080065</a:t>
            </a:r>
            <a:endParaRPr lang="en-US" sz="1150" dirty="0"/>
          </a:p>
        </p:txBody>
      </p:sp>
      <p:sp>
        <p:nvSpPr>
          <p:cNvPr id="8" name="Text 5"/>
          <p:cNvSpPr/>
          <p:nvPr/>
        </p:nvSpPr>
        <p:spPr>
          <a:xfrm>
            <a:off x="6473726" y="3213422"/>
            <a:ext cx="2151459" cy="71817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6E5EF"/>
                </a:solidFill>
                <a:latin typeface="Source Sans 3" pitchFamily="34" charset="0"/>
                <a:ea typeface="Source Sans 3" pitchFamily="34" charset="-122"/>
                <a:cs typeface="Source Sans 3" pitchFamily="34" charset="-120"/>
              </a:rPr>
              <a:t>Guided by: </a:t>
            </a:r>
            <a:r>
              <a:rPr lang="en-US" sz="1150" b="1" dirty="0">
                <a:solidFill>
                  <a:srgbClr val="D6E5EF"/>
                </a:solidFill>
                <a:latin typeface="Source Sans 3 Bold" pitchFamily="34" charset="0"/>
                <a:ea typeface="Source Sans 3 Bold" pitchFamily="34" charset="-122"/>
                <a:cs typeface="Source Sans 3 Bold" pitchFamily="34" charset="-120"/>
              </a:rPr>
              <a:t>Miss. K. Chandusha</a:t>
            </a:r>
            <a:endParaRPr lang="en-US" sz="1150" dirty="0"/>
          </a:p>
          <a:p>
            <a:pPr marL="0" indent="0" algn="l">
              <a:lnSpc>
                <a:spcPct val="133000"/>
              </a:lnSpc>
              <a:buNone/>
            </a:pPr>
            <a:r>
              <a:rPr lang="en-US" sz="1150" dirty="0">
                <a:solidFill>
                  <a:srgbClr val="D6E5EF"/>
                </a:solidFill>
                <a:latin typeface="Source Sans 3" pitchFamily="34" charset="0"/>
                <a:ea typeface="Source Sans 3" pitchFamily="34" charset="-122"/>
                <a:cs typeface="Source Sans 3" pitchFamily="34" charset="-120"/>
              </a:rPr>
              <a:t>Assistant Professor, CS&amp;IT</a:t>
            </a:r>
            <a:endParaRPr lang="en-US" sz="1150" dirty="0"/>
          </a:p>
          <a:p>
            <a:pPr marL="0" indent="0" algn="l">
              <a:lnSpc>
                <a:spcPct val="133000"/>
              </a:lnSpc>
              <a:buNone/>
            </a:pPr>
            <a:r>
              <a:rPr lang="en-US" sz="1150" dirty="0">
                <a:solidFill>
                  <a:srgbClr val="D6E5EF"/>
                </a:solidFill>
                <a:latin typeface="Source Sans 3" pitchFamily="34" charset="0"/>
                <a:ea typeface="Source Sans 3" pitchFamily="34" charset="-122"/>
                <a:cs typeface="Source Sans 3" pitchFamily="34" charset="-120"/>
              </a:rPr>
              <a:t>KL University, Hyderabad</a:t>
            </a:r>
            <a:endParaRPr lang="en-US" sz="1150" dirty="0"/>
          </a:p>
        </p:txBody>
      </p:sp>
      <p:pic>
        <p:nvPicPr>
          <p:cNvPr id="12" name="Picture 11">
            <a:extLst>
              <a:ext uri="{FF2B5EF4-FFF2-40B4-BE49-F238E27FC236}">
                <a16:creationId xmlns:a16="http://schemas.microsoft.com/office/drawing/2014/main" id="{6DB440BE-98F8-1D11-2A08-53BB2A25D984}"/>
              </a:ext>
            </a:extLst>
          </p:cNvPr>
          <p:cNvPicPr>
            <a:picLocks noChangeAspect="1"/>
          </p:cNvPicPr>
          <p:nvPr/>
        </p:nvPicPr>
        <p:blipFill>
          <a:blip r:embed="rId4"/>
          <a:stretch>
            <a:fillRect/>
          </a:stretch>
        </p:blipFill>
        <p:spPr>
          <a:xfrm>
            <a:off x="1" y="0"/>
            <a:ext cx="9141570" cy="51575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428625"/>
            <a:ext cx="4667845" cy="398711"/>
          </a:xfrm>
          <a:prstGeom prst="rect">
            <a:avLst/>
          </a:prstGeom>
          <a:noFill/>
          <a:ln/>
        </p:spPr>
        <p:txBody>
          <a:bodyPr wrap="none" lIns="0" tIns="0" rIns="0" bIns="0" rtlCol="0" anchor="t"/>
          <a:lstStyle/>
          <a:p>
            <a:pPr marL="0" indent="0" algn="l">
              <a:lnSpc>
                <a:spcPct val="104000"/>
              </a:lnSpc>
              <a:buNone/>
            </a:pPr>
            <a:r>
              <a:rPr lang="en-US" sz="2500" dirty="0">
                <a:solidFill>
                  <a:srgbClr val="F98AC7"/>
                </a:solidFill>
                <a:latin typeface="Lora" pitchFamily="34" charset="0"/>
                <a:ea typeface="Lora" pitchFamily="34" charset="-122"/>
                <a:cs typeface="Lora" pitchFamily="34" charset="-120"/>
              </a:rPr>
              <a:t>Introduction</a:t>
            </a:r>
            <a:endParaRPr lang="en-US" sz="2500" dirty="0"/>
          </a:p>
        </p:txBody>
      </p:sp>
      <p:sp>
        <p:nvSpPr>
          <p:cNvPr id="4" name="Text 1"/>
          <p:cNvSpPr/>
          <p:nvPr/>
        </p:nvSpPr>
        <p:spPr>
          <a:xfrm>
            <a:off x="523577" y="1122164"/>
            <a:ext cx="2168575" cy="1971080"/>
          </a:xfrm>
          <a:prstGeom prst="rect">
            <a:avLst/>
          </a:prstGeom>
          <a:noFill/>
          <a:ln/>
        </p:spPr>
        <p:txBody>
          <a:bodyPr wrap="square" lIns="0" tIns="0" rIns="0" bIns="0" rtlCol="0" anchor="t">
            <a:normAutofit/>
          </a:bodyPr>
          <a:lstStyle/>
          <a:p>
            <a:pPr marL="0" indent="0" algn="l">
              <a:lnSpc>
                <a:spcPct val="127000"/>
              </a:lnSpc>
              <a:spcAft>
                <a:spcPts val="850"/>
              </a:spcAft>
              <a:buNone/>
            </a:pPr>
            <a:r>
              <a:rPr lang="en-US" sz="1050" dirty="0">
                <a:solidFill>
                  <a:srgbClr val="D6E5EF"/>
                </a:solidFill>
                <a:latin typeface="Source Sans 3" pitchFamily="34" charset="0"/>
                <a:ea typeface="Source Sans 3" pitchFamily="34" charset="-122"/>
                <a:cs typeface="Source Sans 3" pitchFamily="34" charset="-120"/>
              </a:rPr>
              <a:t>Multiple online sellers list the </a:t>
            </a:r>
            <a:r>
              <a:rPr lang="en-US" sz="1050" b="1" dirty="0">
                <a:solidFill>
                  <a:srgbClr val="D6E5EF"/>
                </a:solidFill>
                <a:latin typeface="Source Sans 3 Bold" pitchFamily="34" charset="0"/>
                <a:ea typeface="Source Sans 3 Bold" pitchFamily="34" charset="-122"/>
                <a:cs typeface="Source Sans 3 Bold" pitchFamily="34" charset="-120"/>
              </a:rPr>
              <a:t>same physical product</a:t>
            </a:r>
            <a:r>
              <a:rPr lang="en-US" sz="1050" dirty="0">
                <a:solidFill>
                  <a:srgbClr val="D6E5EF"/>
                </a:solidFill>
                <a:latin typeface="Source Sans 3" pitchFamily="34" charset="0"/>
                <a:ea typeface="Source Sans 3" pitchFamily="34" charset="-122"/>
                <a:cs typeface="Source Sans 3" pitchFamily="34" charset="-120"/>
              </a:rPr>
              <a:t> using different names, abbreviations, and formats — making direct comparison nearly impossible.</a:t>
            </a:r>
            <a:endParaRPr lang="en-US" sz="1050" dirty="0"/>
          </a:p>
          <a:p>
            <a:pPr marL="0" indent="0" algn="l">
              <a:lnSpc>
                <a:spcPct val="127000"/>
              </a:lnSpc>
              <a:buNone/>
            </a:pPr>
            <a:r>
              <a:rPr lang="en-US" sz="1050" dirty="0">
                <a:solidFill>
                  <a:srgbClr val="D6E5EF"/>
                </a:solidFill>
                <a:latin typeface="Source Sans 3" pitchFamily="34" charset="0"/>
                <a:ea typeface="Source Sans 3" pitchFamily="34" charset="-122"/>
                <a:cs typeface="Source Sans 3" pitchFamily="34" charset="-120"/>
              </a:rPr>
              <a:t>The proposed system </a:t>
            </a:r>
            <a:r>
              <a:rPr lang="en-US" sz="1050" dirty="0">
                <a:solidFill>
                  <a:srgbClr val="F98AC7"/>
                </a:solidFill>
                <a:latin typeface="Source Sans 3" pitchFamily="34" charset="0"/>
                <a:ea typeface="Source Sans 3" pitchFamily="34" charset="-122"/>
                <a:cs typeface="Source Sans 3" pitchFamily="34" charset="-120"/>
              </a:rPr>
              <a:t>identifies listings that refer to the same physical product</a:t>
            </a:r>
            <a:r>
              <a:rPr lang="en-US" sz="1050" dirty="0">
                <a:solidFill>
                  <a:srgbClr val="D6E5EF"/>
                </a:solidFill>
                <a:latin typeface="Source Sans 3" pitchFamily="34" charset="0"/>
                <a:ea typeface="Source Sans 3" pitchFamily="34" charset="-122"/>
                <a:cs typeface="Source Sans 3" pitchFamily="34" charset="-120"/>
              </a:rPr>
              <a:t>, enabling better organization and price comparison.</a:t>
            </a:r>
            <a:endParaRPr lang="en-US" sz="1050" dirty="0"/>
          </a:p>
        </p:txBody>
      </p:sp>
      <p:pic>
        <p:nvPicPr>
          <p:cNvPr id="5" name="Image 1" descr="preencoded.png"/>
          <p:cNvPicPr>
            <a:picLocks noChangeAspect="1"/>
          </p:cNvPicPr>
          <p:nvPr/>
        </p:nvPicPr>
        <p:blipFill>
          <a:blip r:embed="rId4"/>
          <a:stretch>
            <a:fillRect/>
          </a:stretch>
        </p:blipFill>
        <p:spPr>
          <a:xfrm>
            <a:off x="3027611" y="1149772"/>
            <a:ext cx="677912" cy="1206326"/>
          </a:xfrm>
          <a:prstGeom prst="rect">
            <a:avLst/>
          </a:prstGeom>
        </p:spPr>
      </p:pic>
      <p:sp>
        <p:nvSpPr>
          <p:cNvPr id="6" name="Text 2"/>
          <p:cNvSpPr/>
          <p:nvPr/>
        </p:nvSpPr>
        <p:spPr>
          <a:xfrm>
            <a:off x="3828380" y="1285354"/>
            <a:ext cx="1367805" cy="398859"/>
          </a:xfrm>
          <a:prstGeom prst="rect">
            <a:avLst/>
          </a:prstGeom>
          <a:noFill/>
          <a:ln/>
        </p:spPr>
        <p:txBody>
          <a:bodyPr wrap="square" lIns="0" tIns="0" rIns="0" bIns="0" rtlCol="0" anchor="t">
            <a:normAutofit/>
          </a:bodyPr>
          <a:lstStyle/>
          <a:p>
            <a:pPr marL="0" indent="0" algn="l">
              <a:lnSpc>
                <a:spcPct val="104000"/>
              </a:lnSpc>
              <a:buNone/>
            </a:pPr>
            <a:r>
              <a:rPr lang="en-US" sz="1250" dirty="0">
                <a:solidFill>
                  <a:srgbClr val="D6E5EF"/>
                </a:solidFill>
                <a:latin typeface="Lora" pitchFamily="34" charset="0"/>
                <a:ea typeface="Lora" pitchFamily="34" charset="-122"/>
                <a:cs typeface="Lora" pitchFamily="34" charset="-120"/>
              </a:rPr>
              <a:t>Multiple Seller Listings</a:t>
            </a:r>
            <a:endParaRPr lang="en-US" sz="1250" dirty="0"/>
          </a:p>
        </p:txBody>
      </p:sp>
      <p:sp>
        <p:nvSpPr>
          <p:cNvPr id="7" name="Text 3"/>
          <p:cNvSpPr/>
          <p:nvPr/>
        </p:nvSpPr>
        <p:spPr>
          <a:xfrm>
            <a:off x="3828380" y="1807071"/>
            <a:ext cx="1367805" cy="413445"/>
          </a:xfrm>
          <a:prstGeom prst="rect">
            <a:avLst/>
          </a:prstGeom>
          <a:noFill/>
          <a:ln/>
        </p:spPr>
        <p:txBody>
          <a:bodyPr wrap="square" lIns="0" tIns="0" rIns="0" bIns="0" rtlCol="0" anchor="t">
            <a:normAutofit/>
          </a:bodyPr>
          <a:lstStyle/>
          <a:p>
            <a:pPr marL="0" indent="0" algn="l">
              <a:lnSpc>
                <a:spcPct val="127000"/>
              </a:lnSpc>
              <a:buNone/>
            </a:pPr>
            <a:r>
              <a:rPr lang="en-US" sz="1050" dirty="0">
                <a:solidFill>
                  <a:srgbClr val="D6E5EF"/>
                </a:solidFill>
                <a:latin typeface="Source Sans 3" pitchFamily="34" charset="0"/>
                <a:ea typeface="Source Sans 3" pitchFamily="34" charset="-122"/>
                <a:cs typeface="Source Sans 3" pitchFamily="34" charset="-120"/>
              </a:rPr>
              <a:t>Varied names, formats, abbreviations</a:t>
            </a:r>
            <a:endParaRPr lang="en-US" sz="1050" dirty="0"/>
          </a:p>
        </p:txBody>
      </p:sp>
      <p:pic>
        <p:nvPicPr>
          <p:cNvPr id="8" name="Image 2" descr="preencoded.png"/>
          <p:cNvPicPr>
            <a:picLocks noChangeAspect="1"/>
          </p:cNvPicPr>
          <p:nvPr/>
        </p:nvPicPr>
        <p:blipFill>
          <a:blip r:embed="rId5"/>
          <a:stretch>
            <a:fillRect/>
          </a:stretch>
        </p:blipFill>
        <p:spPr>
          <a:xfrm>
            <a:off x="3027611" y="2356098"/>
            <a:ext cx="677912" cy="1006897"/>
          </a:xfrm>
          <a:prstGeom prst="rect">
            <a:avLst/>
          </a:prstGeom>
        </p:spPr>
      </p:pic>
      <p:sp>
        <p:nvSpPr>
          <p:cNvPr id="9" name="Text 4"/>
          <p:cNvSpPr/>
          <p:nvPr/>
        </p:nvSpPr>
        <p:spPr>
          <a:xfrm>
            <a:off x="3828380" y="2491680"/>
            <a:ext cx="1367805" cy="199430"/>
          </a:xfrm>
          <a:prstGeom prst="rect">
            <a:avLst/>
          </a:prstGeom>
          <a:noFill/>
          <a:ln/>
        </p:spPr>
        <p:txBody>
          <a:bodyPr wrap="none" lIns="0" tIns="0" rIns="0" bIns="0" rtlCol="0" anchor="t"/>
          <a:lstStyle/>
          <a:p>
            <a:pPr marL="0" indent="0" algn="l">
              <a:lnSpc>
                <a:spcPct val="104000"/>
              </a:lnSpc>
              <a:buNone/>
            </a:pPr>
            <a:r>
              <a:rPr lang="en-US" sz="1250" dirty="0">
                <a:solidFill>
                  <a:srgbClr val="D6E5EF"/>
                </a:solidFill>
                <a:latin typeface="Lora" pitchFamily="34" charset="0"/>
                <a:ea typeface="Lora" pitchFamily="34" charset="-122"/>
                <a:cs typeface="Lora" pitchFamily="34" charset="-120"/>
              </a:rPr>
              <a:t>Matching System</a:t>
            </a:r>
            <a:endParaRPr lang="en-US" sz="1250" dirty="0"/>
          </a:p>
        </p:txBody>
      </p:sp>
      <p:sp>
        <p:nvSpPr>
          <p:cNvPr id="10" name="Text 5"/>
          <p:cNvSpPr/>
          <p:nvPr/>
        </p:nvSpPr>
        <p:spPr>
          <a:xfrm>
            <a:off x="3828380" y="2813968"/>
            <a:ext cx="1367805" cy="413445"/>
          </a:xfrm>
          <a:prstGeom prst="rect">
            <a:avLst/>
          </a:prstGeom>
          <a:noFill/>
          <a:ln/>
        </p:spPr>
        <p:txBody>
          <a:bodyPr wrap="square" lIns="0" tIns="0" rIns="0" bIns="0" rtlCol="0" anchor="t">
            <a:normAutofit/>
          </a:bodyPr>
          <a:lstStyle/>
          <a:p>
            <a:pPr marL="0" indent="0" algn="l">
              <a:lnSpc>
                <a:spcPct val="127000"/>
              </a:lnSpc>
              <a:buNone/>
            </a:pPr>
            <a:r>
              <a:rPr lang="en-US" sz="1050" dirty="0">
                <a:solidFill>
                  <a:srgbClr val="D6E5EF"/>
                </a:solidFill>
                <a:latin typeface="Source Sans 3" pitchFamily="34" charset="0"/>
                <a:ea typeface="Source Sans 3" pitchFamily="34" charset="-122"/>
                <a:cs typeface="Source Sans 3" pitchFamily="34" charset="-120"/>
              </a:rPr>
              <a:t>Entity resolution &amp; deduplication</a:t>
            </a:r>
            <a:endParaRPr lang="en-US" sz="1050" dirty="0"/>
          </a:p>
        </p:txBody>
      </p:sp>
      <p:pic>
        <p:nvPicPr>
          <p:cNvPr id="11" name="Image 3" descr="preencoded.png"/>
          <p:cNvPicPr>
            <a:picLocks noChangeAspect="1"/>
          </p:cNvPicPr>
          <p:nvPr/>
        </p:nvPicPr>
        <p:blipFill>
          <a:blip r:embed="rId6"/>
          <a:stretch>
            <a:fillRect/>
          </a:stretch>
        </p:blipFill>
        <p:spPr>
          <a:xfrm>
            <a:off x="3027611" y="3362995"/>
            <a:ext cx="677912" cy="1213619"/>
          </a:xfrm>
          <a:prstGeom prst="rect">
            <a:avLst/>
          </a:prstGeom>
        </p:spPr>
      </p:pic>
      <p:sp>
        <p:nvSpPr>
          <p:cNvPr id="12" name="Text 6"/>
          <p:cNvSpPr/>
          <p:nvPr/>
        </p:nvSpPr>
        <p:spPr>
          <a:xfrm>
            <a:off x="3828380" y="3498577"/>
            <a:ext cx="1367805" cy="199430"/>
          </a:xfrm>
          <a:prstGeom prst="rect">
            <a:avLst/>
          </a:prstGeom>
          <a:noFill/>
          <a:ln/>
        </p:spPr>
        <p:txBody>
          <a:bodyPr wrap="none" lIns="0" tIns="0" rIns="0" bIns="0" rtlCol="0" anchor="t"/>
          <a:lstStyle/>
          <a:p>
            <a:pPr marL="0" indent="0" algn="l">
              <a:lnSpc>
                <a:spcPct val="104000"/>
              </a:lnSpc>
              <a:buNone/>
            </a:pPr>
            <a:r>
              <a:rPr lang="en-US" sz="1250" dirty="0">
                <a:solidFill>
                  <a:srgbClr val="D6E5EF"/>
                </a:solidFill>
                <a:latin typeface="Lora" pitchFamily="34" charset="0"/>
                <a:ea typeface="Lora" pitchFamily="34" charset="-122"/>
                <a:cs typeface="Lora" pitchFamily="34" charset="-120"/>
              </a:rPr>
              <a:t>Same Product</a:t>
            </a:r>
            <a:endParaRPr lang="en-US" sz="1250" dirty="0"/>
          </a:p>
        </p:txBody>
      </p:sp>
      <p:sp>
        <p:nvSpPr>
          <p:cNvPr id="13" name="Text 7"/>
          <p:cNvSpPr/>
          <p:nvPr/>
        </p:nvSpPr>
        <p:spPr>
          <a:xfrm>
            <a:off x="3828380" y="3820864"/>
            <a:ext cx="1367805" cy="620167"/>
          </a:xfrm>
          <a:prstGeom prst="rect">
            <a:avLst/>
          </a:prstGeom>
          <a:noFill/>
          <a:ln/>
        </p:spPr>
        <p:txBody>
          <a:bodyPr wrap="square" lIns="0" tIns="0" rIns="0" bIns="0" rtlCol="0" anchor="t">
            <a:normAutofit/>
          </a:bodyPr>
          <a:lstStyle/>
          <a:p>
            <a:pPr marL="0" indent="0" algn="l">
              <a:lnSpc>
                <a:spcPct val="127000"/>
              </a:lnSpc>
              <a:buNone/>
            </a:pPr>
            <a:r>
              <a:rPr lang="en-US" sz="1050" dirty="0">
                <a:solidFill>
                  <a:srgbClr val="D6E5EF"/>
                </a:solidFill>
                <a:latin typeface="Source Sans 3" pitchFamily="34" charset="0"/>
                <a:ea typeface="Source Sans 3" pitchFamily="34" charset="-122"/>
                <a:cs typeface="Source Sans 3" pitchFamily="34" charset="-120"/>
              </a:rPr>
              <a:t>Canonical representation &amp; price comparison</a:t>
            </a:r>
            <a:endParaRPr lang="en-US" sz="1050" dirty="0"/>
          </a:p>
        </p:txBody>
      </p:sp>
      <p:pic>
        <p:nvPicPr>
          <p:cNvPr id="15" name="Picture 14">
            <a:extLst>
              <a:ext uri="{FF2B5EF4-FFF2-40B4-BE49-F238E27FC236}">
                <a16:creationId xmlns:a16="http://schemas.microsoft.com/office/drawing/2014/main" id="{82DFDAC6-CD0D-7B34-C268-37DFD53128D7}"/>
              </a:ext>
            </a:extLst>
          </p:cNvPr>
          <p:cNvPicPr>
            <a:picLocks noChangeAspect="1"/>
          </p:cNvPicPr>
          <p:nvPr/>
        </p:nvPicPr>
        <p:blipFill>
          <a:blip r:embed="rId7"/>
          <a:stretch>
            <a:fillRect/>
          </a:stretch>
        </p:blipFill>
        <p:spPr>
          <a:xfrm>
            <a:off x="2429" y="0"/>
            <a:ext cx="9139141"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23577" y="411435"/>
            <a:ext cx="8096845" cy="219968"/>
          </a:xfrm>
          <a:prstGeom prst="rect">
            <a:avLst/>
          </a:prstGeom>
          <a:noFill/>
          <a:ln/>
        </p:spPr>
        <p:txBody>
          <a:bodyPr wrap="none" lIns="0" tIns="0" rIns="0" bIns="0" rtlCol="0" anchor="t"/>
          <a:lstStyle/>
          <a:p>
            <a:pPr marL="0" indent="0" algn="l">
              <a:lnSpc>
                <a:spcPct val="104000"/>
              </a:lnSpc>
              <a:buNone/>
            </a:pPr>
            <a:r>
              <a:rPr lang="en-US" sz="2800" dirty="0">
                <a:solidFill>
                  <a:srgbClr val="F98AC7"/>
                </a:solidFill>
                <a:latin typeface="Lora" pitchFamily="34" charset="0"/>
                <a:ea typeface="Lora" pitchFamily="34" charset="-122"/>
                <a:cs typeface="Lora" pitchFamily="34" charset="-120"/>
              </a:rPr>
              <a:t>Abstract</a:t>
            </a:r>
            <a:endParaRPr lang="en-US" sz="2800" dirty="0"/>
          </a:p>
        </p:txBody>
      </p:sp>
      <p:sp>
        <p:nvSpPr>
          <p:cNvPr id="8" name="TextBox 7">
            <a:extLst>
              <a:ext uri="{FF2B5EF4-FFF2-40B4-BE49-F238E27FC236}">
                <a16:creationId xmlns:a16="http://schemas.microsoft.com/office/drawing/2014/main" id="{FC71691D-1EEF-0F52-BE94-313ACB9A2F03}"/>
              </a:ext>
            </a:extLst>
          </p:cNvPr>
          <p:cNvSpPr txBox="1"/>
          <p:nvPr/>
        </p:nvSpPr>
        <p:spPr>
          <a:xfrm>
            <a:off x="1076177" y="1139483"/>
            <a:ext cx="7687995" cy="2954655"/>
          </a:xfrm>
          <a:prstGeom prst="rect">
            <a:avLst/>
          </a:prstGeom>
          <a:noFill/>
        </p:spPr>
        <p:txBody>
          <a:bodyPr wrap="square" rtlCol="0">
            <a:spAutoFit/>
          </a:bodyPr>
          <a:lstStyle/>
          <a:p>
            <a:pPr algn="just"/>
            <a:r>
              <a:rPr lang="en-US" sz="1400" dirty="0">
                <a:solidFill>
                  <a:schemeClr val="bg1"/>
                </a:solidFill>
                <a:latin typeface="Lora" pitchFamily="2" charset="0"/>
              </a:rPr>
              <a:t>The E-Commerce Product Entity-Resolution &amp; Matching Platform is designed to identify and match listings that refer to the same physical product across multiple online sellers. Product titles and attributes often vary because of differences in naming, formatting, abbreviations, and seller descriptions, making direct comparison difficult. The proposed system preprocesses product information, extracts important attributes, and applies efficient string-matching, hashing, and similarity-based techniques to detect equivalent listings. Matched listings are grouped under a canonical product representation, enabling users to compare the same product across different sellers and prices. The project demonstrates the practical application of data structures and algorithms for fast searching, matching, deduplication, and organization of e-commerce data. It aims to improve product discovery, reduce duplicate catalogue entries, and support accurate price comparison.</a:t>
            </a:r>
            <a:endParaRPr lang="en-IN" sz="1400" dirty="0">
              <a:solidFill>
                <a:schemeClr val="bg1"/>
              </a:solidFill>
              <a:latin typeface="Lora" pitchFamily="2" charset="0"/>
            </a:endParaRPr>
          </a:p>
          <a:p>
            <a:endParaRPr lang="en-IN" dirty="0"/>
          </a:p>
        </p:txBody>
      </p:sp>
      <p:pic>
        <p:nvPicPr>
          <p:cNvPr id="5" name="Picture 4">
            <a:extLst>
              <a:ext uri="{FF2B5EF4-FFF2-40B4-BE49-F238E27FC236}">
                <a16:creationId xmlns:a16="http://schemas.microsoft.com/office/drawing/2014/main" id="{48FD2FAD-4F8F-C3AD-7E3B-F405497BF8C3}"/>
              </a:ext>
            </a:extLst>
          </p:cNvPr>
          <p:cNvPicPr>
            <a:picLocks noChangeAspect="1"/>
          </p:cNvPicPr>
          <p:nvPr/>
        </p:nvPicPr>
        <p:blipFill>
          <a:blip r:embed="rId3"/>
          <a:stretch>
            <a:fillRect/>
          </a:stretch>
        </p:blipFill>
        <p:spPr>
          <a:xfrm>
            <a:off x="-63306" y="0"/>
            <a:ext cx="9207305"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3577" y="415230"/>
            <a:ext cx="8096845" cy="426244"/>
          </a:xfrm>
          <a:prstGeom prst="rect">
            <a:avLst/>
          </a:prstGeom>
          <a:noFill/>
          <a:ln/>
        </p:spPr>
        <p:txBody>
          <a:bodyPr wrap="none" lIns="0" tIns="0" rIns="0" bIns="0" rtlCol="0" anchor="t"/>
          <a:lstStyle/>
          <a:p>
            <a:pPr marL="0" indent="0" algn="l">
              <a:lnSpc>
                <a:spcPct val="104000"/>
              </a:lnSpc>
              <a:buNone/>
            </a:pPr>
            <a:r>
              <a:rPr lang="en-US" sz="2650" dirty="0">
                <a:solidFill>
                  <a:srgbClr val="F98AC7"/>
                </a:solidFill>
                <a:latin typeface="Lora" pitchFamily="34" charset="0"/>
                <a:ea typeface="Lora" pitchFamily="34" charset="-122"/>
                <a:cs typeface="Lora" pitchFamily="34" charset="-120"/>
              </a:rPr>
              <a:t>Problem Statement &amp; Objectives</a:t>
            </a:r>
            <a:endParaRPr lang="en-US" sz="2650" dirty="0"/>
          </a:p>
        </p:txBody>
      </p:sp>
      <p:sp>
        <p:nvSpPr>
          <p:cNvPr id="3" name="Shape 1"/>
          <p:cNvSpPr/>
          <p:nvPr/>
        </p:nvSpPr>
        <p:spPr>
          <a:xfrm>
            <a:off x="523577" y="1209973"/>
            <a:ext cx="3871615" cy="1009948"/>
          </a:xfrm>
          <a:prstGeom prst="roundRect">
            <a:avLst>
              <a:gd name="adj" fmla="val 2153"/>
            </a:avLst>
          </a:prstGeom>
          <a:solidFill>
            <a:srgbClr val="790645"/>
          </a:solidFill>
          <a:ln/>
        </p:spPr>
      </p:sp>
      <p:pic>
        <p:nvPicPr>
          <p:cNvPr id="4" name="Image 0" descr="preencoded.png"/>
          <p:cNvPicPr>
            <a:picLocks noChangeAspect="1"/>
          </p:cNvPicPr>
          <p:nvPr/>
        </p:nvPicPr>
        <p:blipFill>
          <a:blip r:embed="rId3"/>
          <a:stretch>
            <a:fillRect/>
          </a:stretch>
        </p:blipFill>
        <p:spPr>
          <a:xfrm>
            <a:off x="668462" y="1416844"/>
            <a:ext cx="181124" cy="144884"/>
          </a:xfrm>
          <a:prstGeom prst="rect">
            <a:avLst/>
          </a:prstGeom>
        </p:spPr>
      </p:pic>
      <p:sp>
        <p:nvSpPr>
          <p:cNvPr id="5" name="Text 2"/>
          <p:cNvSpPr/>
          <p:nvPr/>
        </p:nvSpPr>
        <p:spPr>
          <a:xfrm>
            <a:off x="994470" y="1372493"/>
            <a:ext cx="3255838" cy="684907"/>
          </a:xfrm>
          <a:prstGeom prst="rect">
            <a:avLst/>
          </a:prstGeom>
          <a:noFill/>
          <a:ln/>
        </p:spPr>
        <p:txBody>
          <a:bodyPr wrap="square" lIns="0" tIns="0" rIns="0" bIns="0" rtlCol="0" anchor="t">
            <a:normAutofit/>
          </a:bodyPr>
          <a:lstStyle/>
          <a:p>
            <a:pPr marL="0" indent="0" algn="l">
              <a:lnSpc>
                <a:spcPct val="131000"/>
              </a:lnSpc>
              <a:buNone/>
            </a:pPr>
            <a:r>
              <a:rPr lang="en-US" sz="1100" dirty="0">
                <a:solidFill>
                  <a:srgbClr val="FFFFFF"/>
                </a:solidFill>
                <a:latin typeface="Source Sans 3" pitchFamily="34" charset="0"/>
                <a:ea typeface="Source Sans 3" pitchFamily="34" charset="-122"/>
                <a:cs typeface="Source Sans 3" pitchFamily="34" charset="-120"/>
              </a:rPr>
              <a:t>Different sellers describe the same product differently, making it difficult to determine whether multiple listings represent the same physical product.</a:t>
            </a:r>
            <a:endParaRPr lang="en-US" sz="1100" dirty="0"/>
          </a:p>
        </p:txBody>
      </p:sp>
      <p:sp>
        <p:nvSpPr>
          <p:cNvPr id="6" name="Text 3"/>
          <p:cNvSpPr/>
          <p:nvPr/>
        </p:nvSpPr>
        <p:spPr>
          <a:xfrm>
            <a:off x="523577" y="2377827"/>
            <a:ext cx="3871615" cy="456605"/>
          </a:xfrm>
          <a:prstGeom prst="rect">
            <a:avLst/>
          </a:prstGeom>
          <a:noFill/>
          <a:ln/>
        </p:spPr>
        <p:txBody>
          <a:bodyPr wrap="square" lIns="0" tIns="0" rIns="0" bIns="0" rtlCol="0" anchor="t">
            <a:normAutofit/>
          </a:bodyPr>
          <a:lstStyle/>
          <a:p>
            <a:pPr marL="0" indent="0" algn="l">
              <a:lnSpc>
                <a:spcPct val="131000"/>
              </a:lnSpc>
              <a:buNone/>
            </a:pPr>
            <a:r>
              <a:rPr lang="en-US" sz="1100" b="1" dirty="0">
                <a:solidFill>
                  <a:srgbClr val="D6E5EF"/>
                </a:solidFill>
                <a:latin typeface="Source Sans 3 Bold" pitchFamily="34" charset="0"/>
                <a:ea typeface="Source Sans 3 Bold" pitchFamily="34" charset="-122"/>
                <a:cs typeface="Source Sans 3 Bold" pitchFamily="34" charset="-120"/>
              </a:rPr>
              <a:t>Goal:</a:t>
            </a:r>
            <a:r>
              <a:rPr lang="en-US" sz="1100" dirty="0">
                <a:solidFill>
                  <a:srgbClr val="D6E5EF"/>
                </a:solidFill>
                <a:latin typeface="Source Sans 3" pitchFamily="34" charset="0"/>
                <a:ea typeface="Source Sans 3" pitchFamily="34" charset="-122"/>
                <a:cs typeface="Source Sans 3" pitchFamily="34" charset="-120"/>
              </a:rPr>
              <a:t> Build a platform that resolves this ambiguity using DSA techniques.</a:t>
            </a:r>
            <a:endParaRPr lang="en-US" sz="1100" dirty="0"/>
          </a:p>
        </p:txBody>
      </p:sp>
      <p:sp>
        <p:nvSpPr>
          <p:cNvPr id="7" name="Shape 4"/>
          <p:cNvSpPr/>
          <p:nvPr/>
        </p:nvSpPr>
        <p:spPr>
          <a:xfrm>
            <a:off x="4753570" y="1209973"/>
            <a:ext cx="326082" cy="326082"/>
          </a:xfrm>
          <a:prstGeom prst="roundRect">
            <a:avLst>
              <a:gd name="adj" fmla="val 6667"/>
            </a:avLst>
          </a:prstGeom>
          <a:solidFill>
            <a:srgbClr val="444752"/>
          </a:solidFill>
          <a:ln/>
        </p:spPr>
      </p:sp>
      <p:sp>
        <p:nvSpPr>
          <p:cNvPr id="8" name="Text 5"/>
          <p:cNvSpPr/>
          <p:nvPr/>
        </p:nvSpPr>
        <p:spPr>
          <a:xfrm>
            <a:off x="4814329" y="1245133"/>
            <a:ext cx="204564" cy="255761"/>
          </a:xfrm>
          <a:prstGeom prst="rect">
            <a:avLst/>
          </a:prstGeom>
          <a:noFill/>
          <a:ln/>
        </p:spPr>
        <p:txBody>
          <a:bodyPr wrap="none" lIns="0" tIns="0" rIns="0" bIns="0" rtlCol="0" anchor="ctr"/>
          <a:lstStyle/>
          <a:p>
            <a:pPr marL="0" indent="0" algn="ctr">
              <a:lnSpc>
                <a:spcPct val="100000"/>
              </a:lnSpc>
              <a:buNone/>
            </a:pPr>
            <a:r>
              <a:rPr lang="en-US" sz="1600" dirty="0">
                <a:solidFill>
                  <a:srgbClr val="D6E5EF"/>
                </a:solidFill>
                <a:latin typeface="Lora" pitchFamily="34" charset="0"/>
                <a:ea typeface="Lora" pitchFamily="34" charset="-122"/>
                <a:cs typeface="Lora" pitchFamily="34" charset="-120"/>
              </a:rPr>
              <a:t>1</a:t>
            </a:r>
            <a:endParaRPr lang="en-US" sz="1600" dirty="0"/>
          </a:p>
        </p:txBody>
      </p:sp>
      <p:sp>
        <p:nvSpPr>
          <p:cNvPr id="9" name="Text 6"/>
          <p:cNvSpPr/>
          <p:nvPr/>
        </p:nvSpPr>
        <p:spPr>
          <a:xfrm>
            <a:off x="5219998" y="1259756"/>
            <a:ext cx="3405188" cy="213047"/>
          </a:xfrm>
          <a:prstGeom prst="rect">
            <a:avLst/>
          </a:prstGeom>
          <a:noFill/>
          <a:ln/>
        </p:spPr>
        <p:txBody>
          <a:bodyPr wrap="none" lIns="0" tIns="0" rIns="0" bIns="0" rtlCol="0" anchor="t"/>
          <a:lstStyle/>
          <a:p>
            <a:pPr marL="0" indent="0" algn="l">
              <a:lnSpc>
                <a:spcPct val="104000"/>
              </a:lnSpc>
              <a:buNone/>
            </a:pPr>
            <a:r>
              <a:rPr lang="en-US" sz="1300" dirty="0">
                <a:solidFill>
                  <a:srgbClr val="D6E5EF"/>
                </a:solidFill>
                <a:latin typeface="Lora" pitchFamily="34" charset="0"/>
                <a:ea typeface="Lora" pitchFamily="34" charset="-122"/>
                <a:cs typeface="Lora" pitchFamily="34" charset="-120"/>
              </a:rPr>
              <a:t>Identify equivalent listings</a:t>
            </a:r>
            <a:endParaRPr lang="en-US" sz="1300" dirty="0"/>
          </a:p>
        </p:txBody>
      </p:sp>
      <p:sp>
        <p:nvSpPr>
          <p:cNvPr id="10" name="Shape 7"/>
          <p:cNvSpPr/>
          <p:nvPr/>
        </p:nvSpPr>
        <p:spPr>
          <a:xfrm>
            <a:off x="4753570" y="1816819"/>
            <a:ext cx="326082" cy="326082"/>
          </a:xfrm>
          <a:prstGeom prst="roundRect">
            <a:avLst>
              <a:gd name="adj" fmla="val 6667"/>
            </a:avLst>
          </a:prstGeom>
          <a:solidFill>
            <a:srgbClr val="444752"/>
          </a:solidFill>
          <a:ln/>
        </p:spPr>
      </p:sp>
      <p:sp>
        <p:nvSpPr>
          <p:cNvPr id="11" name="Text 8"/>
          <p:cNvSpPr/>
          <p:nvPr/>
        </p:nvSpPr>
        <p:spPr>
          <a:xfrm>
            <a:off x="4814329" y="1851980"/>
            <a:ext cx="204564" cy="255761"/>
          </a:xfrm>
          <a:prstGeom prst="rect">
            <a:avLst/>
          </a:prstGeom>
          <a:noFill/>
          <a:ln/>
        </p:spPr>
        <p:txBody>
          <a:bodyPr wrap="none" lIns="0" tIns="0" rIns="0" bIns="0" rtlCol="0" anchor="ctr"/>
          <a:lstStyle/>
          <a:p>
            <a:pPr marL="0" indent="0" algn="ctr">
              <a:lnSpc>
                <a:spcPct val="100000"/>
              </a:lnSpc>
              <a:buNone/>
            </a:pPr>
            <a:r>
              <a:rPr lang="en-US" sz="1600" dirty="0">
                <a:solidFill>
                  <a:srgbClr val="D6E5EF"/>
                </a:solidFill>
                <a:latin typeface="Lora" pitchFamily="34" charset="0"/>
                <a:ea typeface="Lora" pitchFamily="34" charset="-122"/>
                <a:cs typeface="Lora" pitchFamily="34" charset="-120"/>
              </a:rPr>
              <a:t>2</a:t>
            </a:r>
            <a:endParaRPr lang="en-US" sz="1600" dirty="0"/>
          </a:p>
        </p:txBody>
      </p:sp>
      <p:sp>
        <p:nvSpPr>
          <p:cNvPr id="12" name="Text 9"/>
          <p:cNvSpPr/>
          <p:nvPr/>
        </p:nvSpPr>
        <p:spPr>
          <a:xfrm>
            <a:off x="5219998" y="1866602"/>
            <a:ext cx="3405188" cy="213047"/>
          </a:xfrm>
          <a:prstGeom prst="rect">
            <a:avLst/>
          </a:prstGeom>
          <a:noFill/>
          <a:ln/>
        </p:spPr>
        <p:txBody>
          <a:bodyPr wrap="none" lIns="0" tIns="0" rIns="0" bIns="0" rtlCol="0" anchor="t"/>
          <a:lstStyle/>
          <a:p>
            <a:pPr marL="0" indent="0" algn="l">
              <a:lnSpc>
                <a:spcPct val="104000"/>
              </a:lnSpc>
              <a:buNone/>
            </a:pPr>
            <a:r>
              <a:rPr lang="en-US" sz="1300" dirty="0">
                <a:solidFill>
                  <a:srgbClr val="D6E5EF"/>
                </a:solidFill>
                <a:latin typeface="Lora" pitchFamily="34" charset="0"/>
                <a:ea typeface="Lora" pitchFamily="34" charset="-122"/>
                <a:cs typeface="Lora" pitchFamily="34" charset="-120"/>
              </a:rPr>
              <a:t>Preprocess &amp; extract attributes</a:t>
            </a:r>
            <a:endParaRPr lang="en-US" sz="1300" dirty="0"/>
          </a:p>
        </p:txBody>
      </p:sp>
      <p:sp>
        <p:nvSpPr>
          <p:cNvPr id="13" name="Shape 10"/>
          <p:cNvSpPr/>
          <p:nvPr/>
        </p:nvSpPr>
        <p:spPr>
          <a:xfrm>
            <a:off x="4753570" y="2423666"/>
            <a:ext cx="326082" cy="326082"/>
          </a:xfrm>
          <a:prstGeom prst="roundRect">
            <a:avLst>
              <a:gd name="adj" fmla="val 6667"/>
            </a:avLst>
          </a:prstGeom>
          <a:solidFill>
            <a:srgbClr val="444752"/>
          </a:solidFill>
          <a:ln/>
        </p:spPr>
      </p:sp>
      <p:sp>
        <p:nvSpPr>
          <p:cNvPr id="14" name="Text 11"/>
          <p:cNvSpPr/>
          <p:nvPr/>
        </p:nvSpPr>
        <p:spPr>
          <a:xfrm>
            <a:off x="4814329" y="2458827"/>
            <a:ext cx="204564" cy="255761"/>
          </a:xfrm>
          <a:prstGeom prst="rect">
            <a:avLst/>
          </a:prstGeom>
          <a:noFill/>
          <a:ln/>
        </p:spPr>
        <p:txBody>
          <a:bodyPr wrap="none" lIns="0" tIns="0" rIns="0" bIns="0" rtlCol="0" anchor="ctr"/>
          <a:lstStyle/>
          <a:p>
            <a:pPr marL="0" indent="0" algn="ctr">
              <a:lnSpc>
                <a:spcPct val="100000"/>
              </a:lnSpc>
              <a:buNone/>
            </a:pPr>
            <a:r>
              <a:rPr lang="en-US" sz="1600" dirty="0">
                <a:solidFill>
                  <a:srgbClr val="D6E5EF"/>
                </a:solidFill>
                <a:latin typeface="Lora" pitchFamily="34" charset="0"/>
                <a:ea typeface="Lora" pitchFamily="34" charset="-122"/>
                <a:cs typeface="Lora" pitchFamily="34" charset="-120"/>
              </a:rPr>
              <a:t>3</a:t>
            </a:r>
            <a:endParaRPr lang="en-US" sz="1600" dirty="0"/>
          </a:p>
        </p:txBody>
      </p:sp>
      <p:sp>
        <p:nvSpPr>
          <p:cNvPr id="15" name="Text 12"/>
          <p:cNvSpPr/>
          <p:nvPr/>
        </p:nvSpPr>
        <p:spPr>
          <a:xfrm>
            <a:off x="5219998" y="2473449"/>
            <a:ext cx="3405188" cy="213047"/>
          </a:xfrm>
          <a:prstGeom prst="rect">
            <a:avLst/>
          </a:prstGeom>
          <a:noFill/>
          <a:ln/>
        </p:spPr>
        <p:txBody>
          <a:bodyPr wrap="none" lIns="0" tIns="0" rIns="0" bIns="0" rtlCol="0" anchor="t"/>
          <a:lstStyle/>
          <a:p>
            <a:pPr marL="0" indent="0" algn="l">
              <a:lnSpc>
                <a:spcPct val="104000"/>
              </a:lnSpc>
              <a:buNone/>
            </a:pPr>
            <a:r>
              <a:rPr lang="en-US" sz="1300" dirty="0">
                <a:solidFill>
                  <a:srgbClr val="D6E5EF"/>
                </a:solidFill>
                <a:latin typeface="Lora" pitchFamily="34" charset="0"/>
                <a:ea typeface="Lora" pitchFamily="34" charset="-122"/>
                <a:cs typeface="Lora" pitchFamily="34" charset="-120"/>
              </a:rPr>
              <a:t>Apply string matching &amp; hashing</a:t>
            </a:r>
            <a:endParaRPr lang="en-US" sz="1300" dirty="0"/>
          </a:p>
        </p:txBody>
      </p:sp>
      <p:sp>
        <p:nvSpPr>
          <p:cNvPr id="16" name="Shape 13"/>
          <p:cNvSpPr/>
          <p:nvPr/>
        </p:nvSpPr>
        <p:spPr>
          <a:xfrm>
            <a:off x="4753570" y="3030513"/>
            <a:ext cx="326082" cy="326082"/>
          </a:xfrm>
          <a:prstGeom prst="roundRect">
            <a:avLst>
              <a:gd name="adj" fmla="val 6667"/>
            </a:avLst>
          </a:prstGeom>
          <a:solidFill>
            <a:srgbClr val="444752"/>
          </a:solidFill>
          <a:ln/>
        </p:spPr>
      </p:sp>
      <p:sp>
        <p:nvSpPr>
          <p:cNvPr id="17" name="Text 14"/>
          <p:cNvSpPr/>
          <p:nvPr/>
        </p:nvSpPr>
        <p:spPr>
          <a:xfrm>
            <a:off x="4814329" y="3065673"/>
            <a:ext cx="204564" cy="255761"/>
          </a:xfrm>
          <a:prstGeom prst="rect">
            <a:avLst/>
          </a:prstGeom>
          <a:noFill/>
          <a:ln/>
        </p:spPr>
        <p:txBody>
          <a:bodyPr wrap="none" lIns="0" tIns="0" rIns="0" bIns="0" rtlCol="0" anchor="ctr"/>
          <a:lstStyle/>
          <a:p>
            <a:pPr marL="0" indent="0" algn="ctr">
              <a:lnSpc>
                <a:spcPct val="100000"/>
              </a:lnSpc>
              <a:buNone/>
            </a:pPr>
            <a:r>
              <a:rPr lang="en-US" sz="1600" dirty="0">
                <a:solidFill>
                  <a:srgbClr val="D6E5EF"/>
                </a:solidFill>
                <a:latin typeface="Lora" pitchFamily="34" charset="0"/>
                <a:ea typeface="Lora" pitchFamily="34" charset="-122"/>
                <a:cs typeface="Lora" pitchFamily="34" charset="-120"/>
              </a:rPr>
              <a:t>4</a:t>
            </a:r>
            <a:endParaRPr lang="en-US" sz="1600" dirty="0"/>
          </a:p>
        </p:txBody>
      </p:sp>
      <p:sp>
        <p:nvSpPr>
          <p:cNvPr id="18" name="Text 15"/>
          <p:cNvSpPr/>
          <p:nvPr/>
        </p:nvSpPr>
        <p:spPr>
          <a:xfrm>
            <a:off x="5219998" y="3080296"/>
            <a:ext cx="3405188" cy="213047"/>
          </a:xfrm>
          <a:prstGeom prst="rect">
            <a:avLst/>
          </a:prstGeom>
          <a:noFill/>
          <a:ln/>
        </p:spPr>
        <p:txBody>
          <a:bodyPr wrap="none" lIns="0" tIns="0" rIns="0" bIns="0" rtlCol="0" anchor="t"/>
          <a:lstStyle/>
          <a:p>
            <a:pPr marL="0" indent="0" algn="l">
              <a:lnSpc>
                <a:spcPct val="104000"/>
              </a:lnSpc>
              <a:buNone/>
            </a:pPr>
            <a:r>
              <a:rPr lang="en-US" sz="1300" dirty="0">
                <a:solidFill>
                  <a:srgbClr val="D6E5EF"/>
                </a:solidFill>
                <a:latin typeface="Lora" pitchFamily="34" charset="0"/>
                <a:ea typeface="Lora" pitchFamily="34" charset="-122"/>
                <a:cs typeface="Lora" pitchFamily="34" charset="-120"/>
              </a:rPr>
              <a:t>Similarity-based grouping</a:t>
            </a:r>
            <a:endParaRPr lang="en-US" sz="1300" dirty="0"/>
          </a:p>
        </p:txBody>
      </p:sp>
      <p:sp>
        <p:nvSpPr>
          <p:cNvPr id="19" name="Shape 16"/>
          <p:cNvSpPr/>
          <p:nvPr/>
        </p:nvSpPr>
        <p:spPr>
          <a:xfrm>
            <a:off x="4753570" y="3637359"/>
            <a:ext cx="326082" cy="326082"/>
          </a:xfrm>
          <a:prstGeom prst="roundRect">
            <a:avLst>
              <a:gd name="adj" fmla="val 6667"/>
            </a:avLst>
          </a:prstGeom>
          <a:solidFill>
            <a:srgbClr val="444752"/>
          </a:solidFill>
          <a:ln/>
        </p:spPr>
      </p:sp>
      <p:sp>
        <p:nvSpPr>
          <p:cNvPr id="20" name="Text 17"/>
          <p:cNvSpPr/>
          <p:nvPr/>
        </p:nvSpPr>
        <p:spPr>
          <a:xfrm>
            <a:off x="4814329" y="3672520"/>
            <a:ext cx="204564" cy="255761"/>
          </a:xfrm>
          <a:prstGeom prst="rect">
            <a:avLst/>
          </a:prstGeom>
          <a:noFill/>
          <a:ln/>
        </p:spPr>
        <p:txBody>
          <a:bodyPr wrap="none" lIns="0" tIns="0" rIns="0" bIns="0" rtlCol="0" anchor="ctr"/>
          <a:lstStyle/>
          <a:p>
            <a:pPr marL="0" indent="0" algn="ctr">
              <a:lnSpc>
                <a:spcPct val="100000"/>
              </a:lnSpc>
              <a:buNone/>
            </a:pPr>
            <a:r>
              <a:rPr lang="en-US" sz="1600" dirty="0">
                <a:solidFill>
                  <a:srgbClr val="D6E5EF"/>
                </a:solidFill>
                <a:latin typeface="Lora" pitchFamily="34" charset="0"/>
                <a:ea typeface="Lora" pitchFamily="34" charset="-122"/>
                <a:cs typeface="Lora" pitchFamily="34" charset="-120"/>
              </a:rPr>
              <a:t>5</a:t>
            </a:r>
            <a:endParaRPr lang="en-US" sz="1600" dirty="0"/>
          </a:p>
        </p:txBody>
      </p:sp>
      <p:sp>
        <p:nvSpPr>
          <p:cNvPr id="21" name="Text 18"/>
          <p:cNvSpPr/>
          <p:nvPr/>
        </p:nvSpPr>
        <p:spPr>
          <a:xfrm>
            <a:off x="5219998" y="3687142"/>
            <a:ext cx="3405188" cy="213047"/>
          </a:xfrm>
          <a:prstGeom prst="rect">
            <a:avLst/>
          </a:prstGeom>
          <a:noFill/>
          <a:ln/>
        </p:spPr>
        <p:txBody>
          <a:bodyPr wrap="none" lIns="0" tIns="0" rIns="0" bIns="0" rtlCol="0" anchor="t"/>
          <a:lstStyle/>
          <a:p>
            <a:pPr marL="0" indent="0" algn="l">
              <a:lnSpc>
                <a:spcPct val="104000"/>
              </a:lnSpc>
              <a:buNone/>
            </a:pPr>
            <a:r>
              <a:rPr lang="en-US" sz="1300" dirty="0">
                <a:solidFill>
                  <a:srgbClr val="D6E5EF"/>
                </a:solidFill>
                <a:latin typeface="Lora" pitchFamily="34" charset="0"/>
                <a:ea typeface="Lora" pitchFamily="34" charset="-122"/>
                <a:cs typeface="Lora" pitchFamily="34" charset="-120"/>
              </a:rPr>
              <a:t>Support price comparison</a:t>
            </a:r>
            <a:endParaRPr lang="en-US" sz="1300" dirty="0"/>
          </a:p>
        </p:txBody>
      </p:sp>
      <p:sp>
        <p:nvSpPr>
          <p:cNvPr id="22" name="Shape 19"/>
          <p:cNvSpPr/>
          <p:nvPr/>
        </p:nvSpPr>
        <p:spPr>
          <a:xfrm>
            <a:off x="4753570" y="4244206"/>
            <a:ext cx="326082" cy="326082"/>
          </a:xfrm>
          <a:prstGeom prst="roundRect">
            <a:avLst>
              <a:gd name="adj" fmla="val 6667"/>
            </a:avLst>
          </a:prstGeom>
          <a:solidFill>
            <a:srgbClr val="444752"/>
          </a:solidFill>
          <a:ln/>
        </p:spPr>
      </p:sp>
      <p:sp>
        <p:nvSpPr>
          <p:cNvPr id="23" name="Text 20"/>
          <p:cNvSpPr/>
          <p:nvPr/>
        </p:nvSpPr>
        <p:spPr>
          <a:xfrm>
            <a:off x="4814329" y="4279367"/>
            <a:ext cx="204564" cy="255761"/>
          </a:xfrm>
          <a:prstGeom prst="rect">
            <a:avLst/>
          </a:prstGeom>
          <a:noFill/>
          <a:ln/>
        </p:spPr>
        <p:txBody>
          <a:bodyPr wrap="none" lIns="0" tIns="0" rIns="0" bIns="0" rtlCol="0" anchor="ctr"/>
          <a:lstStyle/>
          <a:p>
            <a:pPr marL="0" indent="0" algn="ctr">
              <a:lnSpc>
                <a:spcPct val="100000"/>
              </a:lnSpc>
              <a:buNone/>
            </a:pPr>
            <a:r>
              <a:rPr lang="en-US" sz="1600" dirty="0">
                <a:solidFill>
                  <a:srgbClr val="D6E5EF"/>
                </a:solidFill>
                <a:latin typeface="Lora" pitchFamily="34" charset="0"/>
                <a:ea typeface="Lora" pitchFamily="34" charset="-122"/>
                <a:cs typeface="Lora" pitchFamily="34" charset="-120"/>
              </a:rPr>
              <a:t>6</a:t>
            </a:r>
            <a:endParaRPr lang="en-US" sz="1600" dirty="0"/>
          </a:p>
        </p:txBody>
      </p:sp>
      <p:sp>
        <p:nvSpPr>
          <p:cNvPr id="24" name="Text 21"/>
          <p:cNvSpPr/>
          <p:nvPr/>
        </p:nvSpPr>
        <p:spPr>
          <a:xfrm>
            <a:off x="5219998" y="4293989"/>
            <a:ext cx="3405188" cy="213047"/>
          </a:xfrm>
          <a:prstGeom prst="rect">
            <a:avLst/>
          </a:prstGeom>
          <a:noFill/>
          <a:ln/>
        </p:spPr>
        <p:txBody>
          <a:bodyPr wrap="none" lIns="0" tIns="0" rIns="0" bIns="0" rtlCol="0" anchor="t"/>
          <a:lstStyle/>
          <a:p>
            <a:pPr marL="0" indent="0" algn="l">
              <a:lnSpc>
                <a:spcPct val="104000"/>
              </a:lnSpc>
              <a:buNone/>
            </a:pPr>
            <a:r>
              <a:rPr lang="en-US" sz="1300" dirty="0">
                <a:solidFill>
                  <a:srgbClr val="D6E5EF"/>
                </a:solidFill>
                <a:latin typeface="Lora" pitchFamily="34" charset="0"/>
                <a:ea typeface="Lora" pitchFamily="34" charset="-122"/>
                <a:cs typeface="Lora" pitchFamily="34" charset="-120"/>
              </a:rPr>
              <a:t>Reduce catalogue duplicates</a:t>
            </a:r>
            <a:endParaRPr lang="en-US" sz="1300" dirty="0"/>
          </a:p>
        </p:txBody>
      </p:sp>
      <p:pic>
        <p:nvPicPr>
          <p:cNvPr id="26" name="Picture 25">
            <a:extLst>
              <a:ext uri="{FF2B5EF4-FFF2-40B4-BE49-F238E27FC236}">
                <a16:creationId xmlns:a16="http://schemas.microsoft.com/office/drawing/2014/main" id="{39C73DAD-7A29-1791-E0F2-2A4710F0F498}"/>
              </a:ext>
            </a:extLst>
          </p:cNvPr>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415603"/>
            <a:ext cx="8096845" cy="391864"/>
          </a:xfrm>
          <a:prstGeom prst="rect">
            <a:avLst/>
          </a:prstGeom>
          <a:noFill/>
          <a:ln/>
        </p:spPr>
        <p:txBody>
          <a:bodyPr wrap="none" lIns="0" tIns="0" rIns="0" bIns="0" rtlCol="0" anchor="t"/>
          <a:lstStyle/>
          <a:p>
            <a:pPr marL="0" indent="0" algn="l">
              <a:lnSpc>
                <a:spcPct val="104000"/>
              </a:lnSpc>
              <a:buNone/>
            </a:pPr>
            <a:r>
              <a:rPr lang="en-US" sz="2450" dirty="0">
                <a:solidFill>
                  <a:srgbClr val="F98AC7"/>
                </a:solidFill>
                <a:latin typeface="Lora" pitchFamily="34" charset="0"/>
                <a:ea typeface="Lora" pitchFamily="34" charset="-122"/>
                <a:cs typeface="Lora" pitchFamily="34" charset="-120"/>
              </a:rPr>
              <a:t>Software &amp; Hardware Requirements</a:t>
            </a:r>
            <a:endParaRPr lang="en-US" sz="2450" dirty="0"/>
          </a:p>
        </p:txBody>
      </p:sp>
      <p:sp>
        <p:nvSpPr>
          <p:cNvPr id="3" name="Text 1"/>
          <p:cNvSpPr/>
          <p:nvPr/>
        </p:nvSpPr>
        <p:spPr>
          <a:xfrm>
            <a:off x="523577" y="1104081"/>
            <a:ext cx="3885902" cy="195932"/>
          </a:xfrm>
          <a:prstGeom prst="rect">
            <a:avLst/>
          </a:prstGeom>
          <a:noFill/>
          <a:ln/>
        </p:spPr>
        <p:txBody>
          <a:bodyPr wrap="none" lIns="0" tIns="0" rIns="0" bIns="0" rtlCol="0" anchor="t"/>
          <a:lstStyle/>
          <a:p>
            <a:pPr marL="0" indent="0" algn="l">
              <a:lnSpc>
                <a:spcPct val="104000"/>
              </a:lnSpc>
              <a:buNone/>
            </a:pPr>
            <a:r>
              <a:rPr lang="en-US" sz="1200" dirty="0">
                <a:solidFill>
                  <a:srgbClr val="F98AC7"/>
                </a:solidFill>
                <a:latin typeface="Lora" pitchFamily="34" charset="0"/>
                <a:ea typeface="Lora" pitchFamily="34" charset="-122"/>
                <a:cs typeface="Lora" pitchFamily="34" charset="-120"/>
              </a:rPr>
              <a:t>Software Requirements</a:t>
            </a:r>
            <a:endParaRPr lang="en-US" sz="1200" dirty="0"/>
          </a:p>
        </p:txBody>
      </p:sp>
      <p:sp>
        <p:nvSpPr>
          <p:cNvPr id="4" name="Shape 2"/>
          <p:cNvSpPr/>
          <p:nvPr/>
        </p:nvSpPr>
        <p:spPr>
          <a:xfrm>
            <a:off x="523577" y="1433512"/>
            <a:ext cx="3885902" cy="3160812"/>
          </a:xfrm>
          <a:prstGeom prst="roundRect">
            <a:avLst>
              <a:gd name="adj" fmla="val 632"/>
            </a:avLst>
          </a:prstGeom>
          <a:noFill/>
          <a:ln w="4763">
            <a:solidFill>
              <a:srgbClr val="FFFFFF">
                <a:alpha val="24000"/>
              </a:srgbClr>
            </a:solidFill>
            <a:prstDash val="solid"/>
          </a:ln>
        </p:spPr>
      </p:sp>
      <p:sp>
        <p:nvSpPr>
          <p:cNvPr id="5" name="Shape 3"/>
          <p:cNvSpPr/>
          <p:nvPr/>
        </p:nvSpPr>
        <p:spPr>
          <a:xfrm>
            <a:off x="523577" y="1793974"/>
            <a:ext cx="3885902" cy="8328"/>
          </a:xfrm>
          <a:prstGeom prst="rect">
            <a:avLst/>
          </a:prstGeom>
          <a:solidFill>
            <a:srgbClr val="FFFFFF">
              <a:alpha val="24000"/>
            </a:srgbClr>
          </a:solidFill>
          <a:ln/>
        </p:spPr>
      </p:sp>
      <p:sp>
        <p:nvSpPr>
          <p:cNvPr id="6" name="Shape 4"/>
          <p:cNvSpPr/>
          <p:nvPr/>
        </p:nvSpPr>
        <p:spPr>
          <a:xfrm>
            <a:off x="523577" y="2353568"/>
            <a:ext cx="3885902" cy="8328"/>
          </a:xfrm>
          <a:prstGeom prst="rect">
            <a:avLst/>
          </a:prstGeom>
          <a:solidFill>
            <a:srgbClr val="FFFFFF">
              <a:alpha val="24000"/>
            </a:srgbClr>
          </a:solidFill>
          <a:ln/>
        </p:spPr>
      </p:sp>
      <p:sp>
        <p:nvSpPr>
          <p:cNvPr id="7" name="Shape 5"/>
          <p:cNvSpPr/>
          <p:nvPr/>
        </p:nvSpPr>
        <p:spPr>
          <a:xfrm>
            <a:off x="523577" y="2913162"/>
            <a:ext cx="3885902" cy="8328"/>
          </a:xfrm>
          <a:prstGeom prst="rect">
            <a:avLst/>
          </a:prstGeom>
          <a:solidFill>
            <a:srgbClr val="FFFFFF">
              <a:alpha val="24000"/>
            </a:srgbClr>
          </a:solidFill>
          <a:ln/>
        </p:spPr>
      </p:sp>
      <p:sp>
        <p:nvSpPr>
          <p:cNvPr id="8" name="Shape 6"/>
          <p:cNvSpPr/>
          <p:nvPr/>
        </p:nvSpPr>
        <p:spPr>
          <a:xfrm>
            <a:off x="523577" y="3472755"/>
            <a:ext cx="3885902" cy="8328"/>
          </a:xfrm>
          <a:prstGeom prst="rect">
            <a:avLst/>
          </a:prstGeom>
          <a:solidFill>
            <a:srgbClr val="FFFFFF">
              <a:alpha val="24000"/>
            </a:srgbClr>
          </a:solidFill>
          <a:ln/>
        </p:spPr>
      </p:sp>
      <p:sp>
        <p:nvSpPr>
          <p:cNvPr id="9" name="Shape 7"/>
          <p:cNvSpPr/>
          <p:nvPr/>
        </p:nvSpPr>
        <p:spPr>
          <a:xfrm>
            <a:off x="523577" y="4032349"/>
            <a:ext cx="3885902" cy="8328"/>
          </a:xfrm>
          <a:prstGeom prst="rect">
            <a:avLst/>
          </a:prstGeom>
          <a:solidFill>
            <a:srgbClr val="FFFFFF">
              <a:alpha val="24000"/>
            </a:srgbClr>
          </a:solidFill>
          <a:ln/>
        </p:spPr>
      </p:sp>
      <p:sp>
        <p:nvSpPr>
          <p:cNvPr id="10" name="Text 8"/>
          <p:cNvSpPr/>
          <p:nvPr/>
        </p:nvSpPr>
        <p:spPr>
          <a:xfrm>
            <a:off x="661541" y="1514177"/>
            <a:ext cx="2128986" cy="201513"/>
          </a:xfrm>
          <a:prstGeom prst="rect">
            <a:avLst/>
          </a:prstGeom>
          <a:noFill/>
          <a:ln/>
        </p:spPr>
        <p:txBody>
          <a:bodyPr wrap="none" lIns="0" tIns="0" rIns="0" bIns="0" rtlCol="0" anchor="t"/>
          <a:lstStyle/>
          <a:p>
            <a:pPr marL="0" indent="0" algn="l">
              <a:lnSpc>
                <a:spcPct val="126000"/>
              </a:lnSpc>
              <a:buNone/>
            </a:pPr>
            <a:r>
              <a:rPr lang="en-US" sz="1000" b="1" dirty="0">
                <a:solidFill>
                  <a:srgbClr val="D6E5EF"/>
                </a:solidFill>
                <a:latin typeface="Source Sans 3 Bold" pitchFamily="34" charset="0"/>
                <a:ea typeface="Source Sans 3 Bold" pitchFamily="34" charset="-122"/>
                <a:cs typeface="Source Sans 3 Bold" pitchFamily="34" charset="-120"/>
              </a:rPr>
              <a:t>Component</a:t>
            </a:r>
            <a:endParaRPr lang="en-US" sz="1000" dirty="0"/>
          </a:p>
        </p:txBody>
      </p:sp>
      <p:sp>
        <p:nvSpPr>
          <p:cNvPr id="11" name="Text 9"/>
          <p:cNvSpPr/>
          <p:nvPr/>
        </p:nvSpPr>
        <p:spPr>
          <a:xfrm>
            <a:off x="2599730" y="1514177"/>
            <a:ext cx="2128986" cy="201513"/>
          </a:xfrm>
          <a:prstGeom prst="rect">
            <a:avLst/>
          </a:prstGeom>
          <a:noFill/>
          <a:ln/>
        </p:spPr>
        <p:txBody>
          <a:bodyPr wrap="none" lIns="0" tIns="0" rIns="0" bIns="0" rtlCol="0" anchor="t"/>
          <a:lstStyle/>
          <a:p>
            <a:pPr marL="0" indent="0" algn="l">
              <a:lnSpc>
                <a:spcPct val="126000"/>
              </a:lnSpc>
              <a:buNone/>
            </a:pPr>
            <a:r>
              <a:rPr lang="en-US" sz="1000" b="1" dirty="0">
                <a:solidFill>
                  <a:srgbClr val="D6E5EF"/>
                </a:solidFill>
                <a:latin typeface="Source Sans 3 Bold" pitchFamily="34" charset="0"/>
                <a:ea typeface="Source Sans 3 Bold" pitchFamily="34" charset="-122"/>
                <a:cs typeface="Source Sans 3 Bold" pitchFamily="34" charset="-120"/>
              </a:rPr>
              <a:t>Description</a:t>
            </a:r>
            <a:endParaRPr lang="en-US" sz="1000" dirty="0"/>
          </a:p>
        </p:txBody>
      </p:sp>
      <p:sp>
        <p:nvSpPr>
          <p:cNvPr id="12" name="Text 10"/>
          <p:cNvSpPr/>
          <p:nvPr/>
        </p:nvSpPr>
        <p:spPr>
          <a:xfrm>
            <a:off x="661541" y="1872258"/>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Programming Language</a:t>
            </a:r>
            <a:endParaRPr lang="en-US" sz="1000" dirty="0"/>
          </a:p>
        </p:txBody>
      </p:sp>
      <p:sp>
        <p:nvSpPr>
          <p:cNvPr id="13" name="Text 11"/>
          <p:cNvSpPr/>
          <p:nvPr/>
        </p:nvSpPr>
        <p:spPr>
          <a:xfrm>
            <a:off x="2599730" y="1872258"/>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JAVA language </a:t>
            </a:r>
          </a:p>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supporting DSA</a:t>
            </a:r>
            <a:endParaRPr lang="en-US" sz="1000" dirty="0"/>
          </a:p>
        </p:txBody>
      </p:sp>
      <p:sp>
        <p:nvSpPr>
          <p:cNvPr id="14" name="Text 12"/>
          <p:cNvSpPr/>
          <p:nvPr/>
        </p:nvSpPr>
        <p:spPr>
          <a:xfrm>
            <a:off x="661541" y="2431852"/>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Data Storage</a:t>
            </a:r>
            <a:endParaRPr lang="en-US" sz="1000" dirty="0"/>
          </a:p>
        </p:txBody>
      </p:sp>
      <p:sp>
        <p:nvSpPr>
          <p:cNvPr id="15" name="Text 13"/>
          <p:cNvSpPr/>
          <p:nvPr/>
        </p:nvSpPr>
        <p:spPr>
          <a:xfrm>
            <a:off x="2599730" y="2431852"/>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MY SQL or database storage for listings</a:t>
            </a:r>
            <a:endParaRPr lang="en-US" sz="1000" dirty="0"/>
          </a:p>
        </p:txBody>
      </p:sp>
      <p:sp>
        <p:nvSpPr>
          <p:cNvPr id="16" name="Text 14"/>
          <p:cNvSpPr/>
          <p:nvPr/>
        </p:nvSpPr>
        <p:spPr>
          <a:xfrm>
            <a:off x="661541" y="2991445"/>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String Processing</a:t>
            </a:r>
            <a:endParaRPr lang="en-US" sz="1000" dirty="0"/>
          </a:p>
        </p:txBody>
      </p:sp>
      <p:sp>
        <p:nvSpPr>
          <p:cNvPr id="17" name="Text 15"/>
          <p:cNvSpPr/>
          <p:nvPr/>
        </p:nvSpPr>
        <p:spPr>
          <a:xfrm>
            <a:off x="2599730" y="2991445"/>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Text normalization &amp; comparison libraries</a:t>
            </a:r>
            <a:endParaRPr lang="en-US" sz="1000" dirty="0"/>
          </a:p>
        </p:txBody>
      </p:sp>
      <p:sp>
        <p:nvSpPr>
          <p:cNvPr id="18" name="Text 16"/>
          <p:cNvSpPr/>
          <p:nvPr/>
        </p:nvSpPr>
        <p:spPr>
          <a:xfrm>
            <a:off x="661541" y="3551039"/>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Hashing Module</a:t>
            </a:r>
            <a:endParaRPr lang="en-US" sz="1000" dirty="0"/>
          </a:p>
        </p:txBody>
      </p:sp>
      <p:sp>
        <p:nvSpPr>
          <p:cNvPr id="19" name="Text 17"/>
          <p:cNvSpPr/>
          <p:nvPr/>
        </p:nvSpPr>
        <p:spPr>
          <a:xfrm>
            <a:off x="2599730" y="3551039"/>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Efficient key-value lookup support</a:t>
            </a:r>
            <a:endParaRPr lang="en-US" sz="1000" dirty="0"/>
          </a:p>
        </p:txBody>
      </p:sp>
      <p:sp>
        <p:nvSpPr>
          <p:cNvPr id="20" name="Text 18"/>
          <p:cNvSpPr/>
          <p:nvPr/>
        </p:nvSpPr>
        <p:spPr>
          <a:xfrm>
            <a:off x="661541" y="4110633"/>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User Interface</a:t>
            </a:r>
            <a:endParaRPr lang="en-US" sz="1000" dirty="0"/>
          </a:p>
        </p:txBody>
      </p:sp>
      <p:sp>
        <p:nvSpPr>
          <p:cNvPr id="21" name="Text 19"/>
          <p:cNvSpPr/>
          <p:nvPr/>
        </p:nvSpPr>
        <p:spPr>
          <a:xfrm>
            <a:off x="2599730" y="4110633"/>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Console or web-based interface</a:t>
            </a:r>
            <a:endParaRPr lang="en-US" sz="1000" dirty="0"/>
          </a:p>
        </p:txBody>
      </p:sp>
      <p:sp>
        <p:nvSpPr>
          <p:cNvPr id="22" name="Text 20"/>
          <p:cNvSpPr/>
          <p:nvPr/>
        </p:nvSpPr>
        <p:spPr>
          <a:xfrm>
            <a:off x="4739283" y="1104081"/>
            <a:ext cx="3885902" cy="195932"/>
          </a:xfrm>
          <a:prstGeom prst="rect">
            <a:avLst/>
          </a:prstGeom>
          <a:noFill/>
          <a:ln/>
        </p:spPr>
        <p:txBody>
          <a:bodyPr wrap="none" lIns="0" tIns="0" rIns="0" bIns="0" rtlCol="0" anchor="t"/>
          <a:lstStyle/>
          <a:p>
            <a:pPr marL="0" indent="0" algn="l">
              <a:lnSpc>
                <a:spcPct val="104000"/>
              </a:lnSpc>
              <a:buNone/>
            </a:pPr>
            <a:r>
              <a:rPr lang="en-US" sz="1200" dirty="0">
                <a:solidFill>
                  <a:srgbClr val="F98AC7"/>
                </a:solidFill>
                <a:latin typeface="Lora" pitchFamily="34" charset="0"/>
                <a:ea typeface="Lora" pitchFamily="34" charset="-122"/>
                <a:cs typeface="Lora" pitchFamily="34" charset="-120"/>
              </a:rPr>
              <a:t>Hardware Requirements</a:t>
            </a:r>
            <a:endParaRPr lang="en-US" sz="1200" dirty="0"/>
          </a:p>
        </p:txBody>
      </p:sp>
      <p:sp>
        <p:nvSpPr>
          <p:cNvPr id="23" name="Shape 21"/>
          <p:cNvSpPr/>
          <p:nvPr/>
        </p:nvSpPr>
        <p:spPr>
          <a:xfrm>
            <a:off x="4739283" y="1433512"/>
            <a:ext cx="3885902" cy="2399705"/>
          </a:xfrm>
          <a:prstGeom prst="roundRect">
            <a:avLst>
              <a:gd name="adj" fmla="val 833"/>
            </a:avLst>
          </a:prstGeom>
          <a:noFill/>
          <a:ln w="4763">
            <a:solidFill>
              <a:srgbClr val="FFFFFF">
                <a:alpha val="24000"/>
              </a:srgbClr>
            </a:solidFill>
            <a:prstDash val="solid"/>
          </a:ln>
        </p:spPr>
      </p:sp>
      <p:sp>
        <p:nvSpPr>
          <p:cNvPr id="24" name="Shape 22"/>
          <p:cNvSpPr/>
          <p:nvPr/>
        </p:nvSpPr>
        <p:spPr>
          <a:xfrm>
            <a:off x="4739283" y="1793974"/>
            <a:ext cx="3885902" cy="8328"/>
          </a:xfrm>
          <a:prstGeom prst="rect">
            <a:avLst/>
          </a:prstGeom>
          <a:solidFill>
            <a:srgbClr val="FFFFFF">
              <a:alpha val="24000"/>
            </a:srgbClr>
          </a:solidFill>
          <a:ln/>
        </p:spPr>
      </p:sp>
      <p:sp>
        <p:nvSpPr>
          <p:cNvPr id="25" name="Shape 23"/>
          <p:cNvSpPr/>
          <p:nvPr/>
        </p:nvSpPr>
        <p:spPr>
          <a:xfrm>
            <a:off x="4739283" y="2152055"/>
            <a:ext cx="3885902" cy="8328"/>
          </a:xfrm>
          <a:prstGeom prst="rect">
            <a:avLst/>
          </a:prstGeom>
          <a:solidFill>
            <a:srgbClr val="FFFFFF">
              <a:alpha val="24000"/>
            </a:srgbClr>
          </a:solidFill>
          <a:ln/>
        </p:spPr>
      </p:sp>
      <p:sp>
        <p:nvSpPr>
          <p:cNvPr id="26" name="Shape 24"/>
          <p:cNvSpPr/>
          <p:nvPr/>
        </p:nvSpPr>
        <p:spPr>
          <a:xfrm>
            <a:off x="4739283" y="2711648"/>
            <a:ext cx="3885902" cy="8328"/>
          </a:xfrm>
          <a:prstGeom prst="rect">
            <a:avLst/>
          </a:prstGeom>
          <a:solidFill>
            <a:srgbClr val="FFFFFF">
              <a:alpha val="24000"/>
            </a:srgbClr>
          </a:solidFill>
          <a:ln/>
        </p:spPr>
      </p:sp>
      <p:sp>
        <p:nvSpPr>
          <p:cNvPr id="27" name="Shape 25"/>
          <p:cNvSpPr/>
          <p:nvPr/>
        </p:nvSpPr>
        <p:spPr>
          <a:xfrm>
            <a:off x="4739283" y="3271242"/>
            <a:ext cx="3885902" cy="8328"/>
          </a:xfrm>
          <a:prstGeom prst="rect">
            <a:avLst/>
          </a:prstGeom>
          <a:solidFill>
            <a:srgbClr val="FFFFFF">
              <a:alpha val="24000"/>
            </a:srgbClr>
          </a:solidFill>
          <a:ln/>
        </p:spPr>
      </p:sp>
      <p:sp>
        <p:nvSpPr>
          <p:cNvPr id="28" name="Text 26"/>
          <p:cNvSpPr/>
          <p:nvPr/>
        </p:nvSpPr>
        <p:spPr>
          <a:xfrm>
            <a:off x="4877246" y="1514177"/>
            <a:ext cx="2128986" cy="201513"/>
          </a:xfrm>
          <a:prstGeom prst="rect">
            <a:avLst/>
          </a:prstGeom>
          <a:noFill/>
          <a:ln/>
        </p:spPr>
        <p:txBody>
          <a:bodyPr wrap="none" lIns="0" tIns="0" rIns="0" bIns="0" rtlCol="0" anchor="t"/>
          <a:lstStyle/>
          <a:p>
            <a:pPr marL="0" indent="0" algn="l">
              <a:lnSpc>
                <a:spcPct val="126000"/>
              </a:lnSpc>
              <a:buNone/>
            </a:pPr>
            <a:r>
              <a:rPr lang="en-US" sz="1000" b="1" dirty="0">
                <a:solidFill>
                  <a:srgbClr val="D6E5EF"/>
                </a:solidFill>
                <a:latin typeface="Source Sans 3 Bold" pitchFamily="34" charset="0"/>
                <a:ea typeface="Source Sans 3 Bold" pitchFamily="34" charset="-122"/>
                <a:cs typeface="Source Sans 3 Bold" pitchFamily="34" charset="-120"/>
              </a:rPr>
              <a:t>Component</a:t>
            </a:r>
            <a:endParaRPr lang="en-US" sz="1000" dirty="0"/>
          </a:p>
        </p:txBody>
      </p:sp>
      <p:sp>
        <p:nvSpPr>
          <p:cNvPr id="29" name="Text 27"/>
          <p:cNvSpPr/>
          <p:nvPr/>
        </p:nvSpPr>
        <p:spPr>
          <a:xfrm>
            <a:off x="6815435" y="1514177"/>
            <a:ext cx="2128986" cy="201513"/>
          </a:xfrm>
          <a:prstGeom prst="rect">
            <a:avLst/>
          </a:prstGeom>
          <a:noFill/>
          <a:ln/>
        </p:spPr>
        <p:txBody>
          <a:bodyPr wrap="none" lIns="0" tIns="0" rIns="0" bIns="0" rtlCol="0" anchor="t"/>
          <a:lstStyle/>
          <a:p>
            <a:pPr marL="0" indent="0" algn="l">
              <a:lnSpc>
                <a:spcPct val="126000"/>
              </a:lnSpc>
              <a:buNone/>
            </a:pPr>
            <a:r>
              <a:rPr lang="en-US" sz="1000" b="1" dirty="0">
                <a:solidFill>
                  <a:srgbClr val="D6E5EF"/>
                </a:solidFill>
                <a:latin typeface="Source Sans 3 Bold" pitchFamily="34" charset="0"/>
                <a:ea typeface="Source Sans 3 Bold" pitchFamily="34" charset="-122"/>
                <a:cs typeface="Source Sans 3 Bold" pitchFamily="34" charset="-120"/>
              </a:rPr>
              <a:t>Specification</a:t>
            </a:r>
            <a:endParaRPr lang="en-US" sz="1000" dirty="0"/>
          </a:p>
        </p:txBody>
      </p:sp>
      <p:sp>
        <p:nvSpPr>
          <p:cNvPr id="30" name="Text 28"/>
          <p:cNvSpPr/>
          <p:nvPr/>
        </p:nvSpPr>
        <p:spPr>
          <a:xfrm>
            <a:off x="4877246" y="1872258"/>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Processor</a:t>
            </a:r>
            <a:endParaRPr lang="en-US" sz="1000" dirty="0"/>
          </a:p>
        </p:txBody>
      </p:sp>
      <p:sp>
        <p:nvSpPr>
          <p:cNvPr id="31" name="Text 29"/>
          <p:cNvSpPr/>
          <p:nvPr/>
        </p:nvSpPr>
        <p:spPr>
          <a:xfrm>
            <a:off x="6815435" y="1872258"/>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Standard multi-core CPU</a:t>
            </a:r>
            <a:endParaRPr lang="en-US" sz="1000" dirty="0"/>
          </a:p>
        </p:txBody>
      </p:sp>
      <p:sp>
        <p:nvSpPr>
          <p:cNvPr id="32" name="Text 30"/>
          <p:cNvSpPr/>
          <p:nvPr/>
        </p:nvSpPr>
        <p:spPr>
          <a:xfrm>
            <a:off x="4877246" y="2230338"/>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RAM</a:t>
            </a:r>
            <a:endParaRPr lang="en-US" sz="1000" dirty="0"/>
          </a:p>
        </p:txBody>
      </p:sp>
      <p:sp>
        <p:nvSpPr>
          <p:cNvPr id="33" name="Text 31"/>
          <p:cNvSpPr/>
          <p:nvPr/>
        </p:nvSpPr>
        <p:spPr>
          <a:xfrm>
            <a:off x="6815435" y="2230338"/>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Sufficient for in-memory data structures</a:t>
            </a:r>
            <a:endParaRPr lang="en-US" sz="1000" dirty="0"/>
          </a:p>
        </p:txBody>
      </p:sp>
      <p:sp>
        <p:nvSpPr>
          <p:cNvPr id="34" name="Text 32"/>
          <p:cNvSpPr/>
          <p:nvPr/>
        </p:nvSpPr>
        <p:spPr>
          <a:xfrm>
            <a:off x="4877246" y="2789932"/>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Storage</a:t>
            </a:r>
            <a:endParaRPr lang="en-US" sz="1000" dirty="0"/>
          </a:p>
        </p:txBody>
      </p:sp>
      <p:sp>
        <p:nvSpPr>
          <p:cNvPr id="35" name="Text 33"/>
          <p:cNvSpPr/>
          <p:nvPr/>
        </p:nvSpPr>
        <p:spPr>
          <a:xfrm>
            <a:off x="6815435" y="2789932"/>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Local disk for product datasets</a:t>
            </a:r>
            <a:endParaRPr lang="en-US" sz="1000" dirty="0"/>
          </a:p>
        </p:txBody>
      </p:sp>
      <p:sp>
        <p:nvSpPr>
          <p:cNvPr id="36" name="Text 34"/>
          <p:cNvSpPr/>
          <p:nvPr/>
        </p:nvSpPr>
        <p:spPr>
          <a:xfrm>
            <a:off x="4877246" y="3349526"/>
            <a:ext cx="2128986" cy="201513"/>
          </a:xfrm>
          <a:prstGeom prst="rect">
            <a:avLst/>
          </a:prstGeom>
          <a:noFill/>
          <a:ln/>
        </p:spPr>
        <p:txBody>
          <a:bodyPr wrap="none" lIns="0" tIns="0" rIns="0" bIns="0" rtlCol="0" anchor="t"/>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Network</a:t>
            </a:r>
            <a:endParaRPr lang="en-US" sz="1000" dirty="0"/>
          </a:p>
        </p:txBody>
      </p:sp>
      <p:sp>
        <p:nvSpPr>
          <p:cNvPr id="37" name="Text 35"/>
          <p:cNvSpPr/>
          <p:nvPr/>
        </p:nvSpPr>
        <p:spPr>
          <a:xfrm>
            <a:off x="6815435" y="3349526"/>
            <a:ext cx="1671786" cy="403027"/>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D6E5EF"/>
                </a:solidFill>
                <a:latin typeface="Source Sans 3" pitchFamily="34" charset="0"/>
                <a:ea typeface="Source Sans 3" pitchFamily="34" charset="-122"/>
                <a:cs typeface="Source Sans 3" pitchFamily="34" charset="-120"/>
              </a:rPr>
              <a:t>Internet access for multi-seller data</a:t>
            </a:r>
            <a:endParaRPr lang="en-US" sz="1000" dirty="0"/>
          </a:p>
        </p:txBody>
      </p:sp>
      <p:pic>
        <p:nvPicPr>
          <p:cNvPr id="40" name="Picture 39">
            <a:extLst>
              <a:ext uri="{FF2B5EF4-FFF2-40B4-BE49-F238E27FC236}">
                <a16:creationId xmlns:a16="http://schemas.microsoft.com/office/drawing/2014/main" id="{CF9E63DA-B318-B09A-646E-5461432F5BE0}"/>
              </a:ext>
            </a:extLst>
          </p:cNvPr>
          <p:cNvPicPr>
            <a:picLocks noChangeAspect="1"/>
          </p:cNvPicPr>
          <p:nvPr/>
        </p:nvPicPr>
        <p:blipFill>
          <a:blip r:embed="rId3"/>
          <a:stretch>
            <a:fillRect/>
          </a:stretch>
        </p:blipFill>
        <p:spPr>
          <a:xfrm>
            <a:off x="-84406" y="0"/>
            <a:ext cx="9228406"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418728"/>
            <a:ext cx="8096845" cy="371326"/>
          </a:xfrm>
          <a:prstGeom prst="rect">
            <a:avLst/>
          </a:prstGeom>
          <a:noFill/>
          <a:ln/>
        </p:spPr>
        <p:txBody>
          <a:bodyPr wrap="none" lIns="0" tIns="0" rIns="0" bIns="0" rtlCol="0" anchor="t"/>
          <a:lstStyle/>
          <a:p>
            <a:pPr marL="0" indent="0" algn="l">
              <a:lnSpc>
                <a:spcPct val="104000"/>
              </a:lnSpc>
              <a:buNone/>
            </a:pPr>
            <a:r>
              <a:rPr lang="en-US" sz="2300" dirty="0">
                <a:solidFill>
                  <a:srgbClr val="F98AC7"/>
                </a:solidFill>
                <a:latin typeface="Lora" pitchFamily="34" charset="0"/>
                <a:ea typeface="Lora" pitchFamily="34" charset="-122"/>
                <a:cs typeface="Lora" pitchFamily="34" charset="-120"/>
              </a:rPr>
              <a:t>Literature Survey</a:t>
            </a:r>
            <a:endParaRPr lang="en-US" sz="2300" dirty="0"/>
          </a:p>
        </p:txBody>
      </p:sp>
      <p:sp>
        <p:nvSpPr>
          <p:cNvPr id="3" name="Text 1"/>
          <p:cNvSpPr/>
          <p:nvPr/>
        </p:nvSpPr>
        <p:spPr>
          <a:xfrm>
            <a:off x="523577" y="1056308"/>
            <a:ext cx="2633737" cy="185663"/>
          </a:xfrm>
          <a:prstGeom prst="rect">
            <a:avLst/>
          </a:prstGeom>
          <a:noFill/>
          <a:ln/>
        </p:spPr>
        <p:txBody>
          <a:bodyPr wrap="none" lIns="0" tIns="0" rIns="0" bIns="0" rtlCol="0" anchor="t"/>
          <a:lstStyle/>
          <a:p>
            <a:pPr marL="0" indent="0" algn="l">
              <a:lnSpc>
                <a:spcPct val="104000"/>
              </a:lnSpc>
              <a:buNone/>
            </a:pPr>
            <a:r>
              <a:rPr lang="en-US" sz="1150" dirty="0">
                <a:solidFill>
                  <a:srgbClr val="F98AC7"/>
                </a:solidFill>
                <a:latin typeface="Lora" pitchFamily="34" charset="0"/>
                <a:ea typeface="Lora" pitchFamily="34" charset="-122"/>
                <a:cs typeface="Lora" pitchFamily="34" charset="-120"/>
              </a:rPr>
              <a:t>Research Areas</a:t>
            </a:r>
            <a:endParaRPr lang="en-US" sz="11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1347490"/>
            <a:ext cx="2648024" cy="506834"/>
          </a:xfrm>
          <a:prstGeom prst="rect">
            <a:avLst/>
          </a:prstGeom>
        </p:spPr>
      </p:pic>
      <p:sp>
        <p:nvSpPr>
          <p:cNvPr id="5" name="Text 2"/>
          <p:cNvSpPr/>
          <p:nvPr/>
        </p:nvSpPr>
        <p:spPr>
          <a:xfrm>
            <a:off x="678359" y="1361777"/>
            <a:ext cx="2478956"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Entity Resolution</a:t>
            </a:r>
            <a:endParaRPr lang="en-US" sz="1150" dirty="0"/>
          </a:p>
        </p:txBody>
      </p:sp>
      <p:sp>
        <p:nvSpPr>
          <p:cNvPr id="6" name="Text 3"/>
          <p:cNvSpPr/>
          <p:nvPr/>
        </p:nvSpPr>
        <p:spPr>
          <a:xfrm>
            <a:off x="678359" y="1653927"/>
            <a:ext cx="2478956"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Records referring to the same real-world entity</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2038722"/>
            <a:ext cx="2648024" cy="506834"/>
          </a:xfrm>
          <a:prstGeom prst="rect">
            <a:avLst/>
          </a:prstGeom>
        </p:spPr>
      </p:pic>
      <p:sp>
        <p:nvSpPr>
          <p:cNvPr id="8" name="Text 4"/>
          <p:cNvSpPr/>
          <p:nvPr/>
        </p:nvSpPr>
        <p:spPr>
          <a:xfrm>
            <a:off x="678359" y="2053010"/>
            <a:ext cx="2478956"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String Matching</a:t>
            </a:r>
            <a:endParaRPr lang="en-US" sz="1150" dirty="0"/>
          </a:p>
        </p:txBody>
      </p:sp>
      <p:sp>
        <p:nvSpPr>
          <p:cNvPr id="9" name="Text 5"/>
          <p:cNvSpPr/>
          <p:nvPr/>
        </p:nvSpPr>
        <p:spPr>
          <a:xfrm>
            <a:off x="678359" y="2345159"/>
            <a:ext cx="2478956"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Textual comparison of product names</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2729954"/>
            <a:ext cx="2648024" cy="506834"/>
          </a:xfrm>
          <a:prstGeom prst="rect">
            <a:avLst/>
          </a:prstGeom>
        </p:spPr>
      </p:pic>
      <p:sp>
        <p:nvSpPr>
          <p:cNvPr id="11" name="Text 6"/>
          <p:cNvSpPr/>
          <p:nvPr/>
        </p:nvSpPr>
        <p:spPr>
          <a:xfrm>
            <a:off x="678359" y="2744242"/>
            <a:ext cx="2478956"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Hashing</a:t>
            </a:r>
            <a:endParaRPr lang="en-US" sz="1150" dirty="0"/>
          </a:p>
        </p:txBody>
      </p:sp>
      <p:sp>
        <p:nvSpPr>
          <p:cNvPr id="12" name="Text 7"/>
          <p:cNvSpPr/>
          <p:nvPr/>
        </p:nvSpPr>
        <p:spPr>
          <a:xfrm>
            <a:off x="678359" y="3036391"/>
            <a:ext cx="2478956"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Fast lookup across large collections</a:t>
            </a:r>
            <a:endParaRPr lang="en-US" sz="9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3421187"/>
            <a:ext cx="2648024" cy="506834"/>
          </a:xfrm>
          <a:prstGeom prst="rect">
            <a:avLst/>
          </a:prstGeom>
        </p:spPr>
      </p:pic>
      <p:sp>
        <p:nvSpPr>
          <p:cNvPr id="14" name="Text 8"/>
          <p:cNvSpPr/>
          <p:nvPr/>
        </p:nvSpPr>
        <p:spPr>
          <a:xfrm>
            <a:off x="678359" y="3435474"/>
            <a:ext cx="2478956"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Similarity Measures</a:t>
            </a:r>
            <a:endParaRPr lang="en-US" sz="1150" dirty="0"/>
          </a:p>
        </p:txBody>
      </p:sp>
      <p:sp>
        <p:nvSpPr>
          <p:cNvPr id="15" name="Text 9"/>
          <p:cNvSpPr/>
          <p:nvPr/>
        </p:nvSpPr>
        <p:spPr>
          <a:xfrm>
            <a:off x="678359" y="3727624"/>
            <a:ext cx="2478956"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Scoring how closely listings correspond</a:t>
            </a:r>
            <a:endParaRPr lang="en-US" sz="9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4112419"/>
            <a:ext cx="2648024" cy="506834"/>
          </a:xfrm>
          <a:prstGeom prst="rect">
            <a:avLst/>
          </a:prstGeom>
        </p:spPr>
      </p:pic>
      <p:sp>
        <p:nvSpPr>
          <p:cNvPr id="17" name="Text 10"/>
          <p:cNvSpPr/>
          <p:nvPr/>
        </p:nvSpPr>
        <p:spPr>
          <a:xfrm>
            <a:off x="678359" y="4126706"/>
            <a:ext cx="2478956"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E-Commerce Matching</a:t>
            </a:r>
            <a:endParaRPr lang="en-US" sz="1150" dirty="0"/>
          </a:p>
        </p:txBody>
      </p:sp>
      <p:sp>
        <p:nvSpPr>
          <p:cNvPr id="18" name="Text 11"/>
          <p:cNvSpPr/>
          <p:nvPr/>
        </p:nvSpPr>
        <p:spPr>
          <a:xfrm>
            <a:off x="678359" y="4418856"/>
            <a:ext cx="2478956"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Cross-seller deduplication</a:t>
            </a:r>
            <a:endParaRPr lang="en-US" sz="950" dirty="0"/>
          </a:p>
        </p:txBody>
      </p:sp>
      <p:sp>
        <p:nvSpPr>
          <p:cNvPr id="19" name="Shape 12"/>
          <p:cNvSpPr/>
          <p:nvPr/>
        </p:nvSpPr>
        <p:spPr>
          <a:xfrm>
            <a:off x="3470002" y="1069628"/>
            <a:ext cx="5155109" cy="2693938"/>
          </a:xfrm>
          <a:prstGeom prst="roundRect">
            <a:avLst>
              <a:gd name="adj" fmla="val 703"/>
            </a:avLst>
          </a:prstGeom>
          <a:noFill/>
          <a:ln w="4763">
            <a:solidFill>
              <a:srgbClr val="FFFFFF">
                <a:alpha val="24000"/>
              </a:srgbClr>
            </a:solidFill>
            <a:prstDash val="solid"/>
          </a:ln>
        </p:spPr>
      </p:sp>
      <p:sp>
        <p:nvSpPr>
          <p:cNvPr id="20" name="Shape 13"/>
          <p:cNvSpPr/>
          <p:nvPr/>
        </p:nvSpPr>
        <p:spPr>
          <a:xfrm>
            <a:off x="3474765" y="1074390"/>
            <a:ext cx="5145584" cy="323329"/>
          </a:xfrm>
          <a:prstGeom prst="rect">
            <a:avLst/>
          </a:prstGeom>
          <a:solidFill>
            <a:srgbClr val="FFFFFF">
              <a:alpha val="4000"/>
            </a:srgbClr>
          </a:solidFill>
          <a:ln/>
        </p:spPr>
      </p:sp>
      <p:sp>
        <p:nvSpPr>
          <p:cNvPr id="21" name="Text 14"/>
          <p:cNvSpPr/>
          <p:nvPr/>
        </p:nvSpPr>
        <p:spPr>
          <a:xfrm>
            <a:off x="3600971" y="1143000"/>
            <a:ext cx="1488802" cy="186110"/>
          </a:xfrm>
          <a:prstGeom prst="rect">
            <a:avLst/>
          </a:prstGeom>
          <a:noFill/>
          <a:ln/>
        </p:spPr>
        <p:txBody>
          <a:bodyPr wrap="none" lIns="0" tIns="0" rIns="0" bIns="0" rtlCol="0" anchor="t"/>
          <a:lstStyle/>
          <a:p>
            <a:pPr marL="0" indent="0" algn="l">
              <a:lnSpc>
                <a:spcPct val="123000"/>
              </a:lnSpc>
              <a:buNone/>
            </a:pPr>
            <a:r>
              <a:rPr lang="en-US" sz="950" b="1" dirty="0">
                <a:solidFill>
                  <a:srgbClr val="D6E5EF"/>
                </a:solidFill>
                <a:latin typeface="Source Sans 3 Bold" pitchFamily="34" charset="0"/>
                <a:ea typeface="Source Sans 3 Bold" pitchFamily="34" charset="-122"/>
                <a:cs typeface="Source Sans 3 Bold" pitchFamily="34" charset="-120"/>
              </a:rPr>
              <a:t>Research Area</a:t>
            </a:r>
            <a:endParaRPr lang="en-US" sz="950" dirty="0"/>
          </a:p>
        </p:txBody>
      </p:sp>
      <p:sp>
        <p:nvSpPr>
          <p:cNvPr id="22" name="Text 15"/>
          <p:cNvSpPr/>
          <p:nvPr/>
        </p:nvSpPr>
        <p:spPr>
          <a:xfrm>
            <a:off x="4889748" y="1143000"/>
            <a:ext cx="1486421" cy="186110"/>
          </a:xfrm>
          <a:prstGeom prst="rect">
            <a:avLst/>
          </a:prstGeom>
          <a:noFill/>
          <a:ln/>
        </p:spPr>
        <p:txBody>
          <a:bodyPr wrap="none" lIns="0" tIns="0" rIns="0" bIns="0" rtlCol="0" anchor="t"/>
          <a:lstStyle/>
          <a:p>
            <a:pPr marL="0" indent="0" algn="l">
              <a:lnSpc>
                <a:spcPct val="123000"/>
              </a:lnSpc>
              <a:buNone/>
            </a:pPr>
            <a:r>
              <a:rPr lang="en-US" sz="950" b="1" dirty="0">
                <a:solidFill>
                  <a:srgbClr val="D6E5EF"/>
                </a:solidFill>
                <a:latin typeface="Source Sans 3 Bold" pitchFamily="34" charset="0"/>
                <a:ea typeface="Source Sans 3 Bold" pitchFamily="34" charset="-122"/>
                <a:cs typeface="Source Sans 3 Bold" pitchFamily="34" charset="-120"/>
              </a:rPr>
              <a:t>Existing Approach</a:t>
            </a:r>
            <a:endParaRPr lang="en-US" sz="950" dirty="0"/>
          </a:p>
        </p:txBody>
      </p:sp>
      <p:sp>
        <p:nvSpPr>
          <p:cNvPr id="23" name="Text 16"/>
          <p:cNvSpPr/>
          <p:nvPr/>
        </p:nvSpPr>
        <p:spPr>
          <a:xfrm>
            <a:off x="6176144" y="1143000"/>
            <a:ext cx="1486421" cy="186110"/>
          </a:xfrm>
          <a:prstGeom prst="rect">
            <a:avLst/>
          </a:prstGeom>
          <a:noFill/>
          <a:ln/>
        </p:spPr>
        <p:txBody>
          <a:bodyPr wrap="none" lIns="0" tIns="0" rIns="0" bIns="0" rtlCol="0" anchor="t"/>
          <a:lstStyle/>
          <a:p>
            <a:pPr marL="0" indent="0" algn="l">
              <a:lnSpc>
                <a:spcPct val="123000"/>
              </a:lnSpc>
              <a:buNone/>
            </a:pPr>
            <a:r>
              <a:rPr lang="en-US" sz="950" b="1" dirty="0">
                <a:solidFill>
                  <a:srgbClr val="D6E5EF"/>
                </a:solidFill>
                <a:latin typeface="Source Sans 3 Bold" pitchFamily="34" charset="0"/>
                <a:ea typeface="Source Sans 3 Bold" pitchFamily="34" charset="-122"/>
                <a:cs typeface="Source Sans 3 Bold" pitchFamily="34" charset="-120"/>
              </a:rPr>
              <a:t>Limitation</a:t>
            </a:r>
            <a:endParaRPr lang="en-US" sz="950" dirty="0"/>
          </a:p>
        </p:txBody>
      </p:sp>
      <p:sp>
        <p:nvSpPr>
          <p:cNvPr id="24" name="Text 17"/>
          <p:cNvSpPr/>
          <p:nvPr/>
        </p:nvSpPr>
        <p:spPr>
          <a:xfrm>
            <a:off x="7462540" y="1143000"/>
            <a:ext cx="1488802" cy="186110"/>
          </a:xfrm>
          <a:prstGeom prst="rect">
            <a:avLst/>
          </a:prstGeom>
          <a:noFill/>
          <a:ln/>
        </p:spPr>
        <p:txBody>
          <a:bodyPr wrap="none" lIns="0" tIns="0" rIns="0" bIns="0" rtlCol="0" anchor="t"/>
          <a:lstStyle/>
          <a:p>
            <a:pPr marL="0" indent="0" algn="l">
              <a:lnSpc>
                <a:spcPct val="123000"/>
              </a:lnSpc>
              <a:buNone/>
            </a:pPr>
            <a:r>
              <a:rPr lang="en-US" sz="950" b="1" dirty="0">
                <a:solidFill>
                  <a:srgbClr val="D6E5EF"/>
                </a:solidFill>
                <a:latin typeface="Source Sans 3 Bold" pitchFamily="34" charset="0"/>
                <a:ea typeface="Source Sans 3 Bold" pitchFamily="34" charset="-122"/>
                <a:cs typeface="Source Sans 3 Bold" pitchFamily="34" charset="-120"/>
              </a:rPr>
              <a:t>Relevance</a:t>
            </a:r>
            <a:endParaRPr lang="en-US" sz="950" dirty="0"/>
          </a:p>
        </p:txBody>
      </p:sp>
      <p:sp>
        <p:nvSpPr>
          <p:cNvPr id="25" name="Shape 18"/>
          <p:cNvSpPr/>
          <p:nvPr/>
        </p:nvSpPr>
        <p:spPr>
          <a:xfrm>
            <a:off x="3474765" y="1397719"/>
            <a:ext cx="5145584" cy="509439"/>
          </a:xfrm>
          <a:prstGeom prst="rect">
            <a:avLst/>
          </a:prstGeom>
          <a:solidFill>
            <a:srgbClr val="000000">
              <a:alpha val="4000"/>
            </a:srgbClr>
          </a:solidFill>
          <a:ln/>
        </p:spPr>
      </p:sp>
      <p:sp>
        <p:nvSpPr>
          <p:cNvPr id="26" name="Text 19"/>
          <p:cNvSpPr/>
          <p:nvPr/>
        </p:nvSpPr>
        <p:spPr>
          <a:xfrm>
            <a:off x="3600971" y="1466329"/>
            <a:ext cx="1488802"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Entity Resolution</a:t>
            </a:r>
            <a:endParaRPr lang="en-US" sz="950" dirty="0"/>
          </a:p>
        </p:txBody>
      </p:sp>
      <p:sp>
        <p:nvSpPr>
          <p:cNvPr id="27" name="Text 20"/>
          <p:cNvSpPr/>
          <p:nvPr/>
        </p:nvSpPr>
        <p:spPr>
          <a:xfrm>
            <a:off x="4889748" y="1466329"/>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Record linkage</a:t>
            </a:r>
            <a:endParaRPr lang="en-US" sz="950" dirty="0"/>
          </a:p>
        </p:txBody>
      </p:sp>
      <p:sp>
        <p:nvSpPr>
          <p:cNvPr id="28" name="Text 21"/>
          <p:cNvSpPr/>
          <p:nvPr/>
        </p:nvSpPr>
        <p:spPr>
          <a:xfrm>
            <a:off x="6176144" y="1466329"/>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Variation in records</a:t>
            </a:r>
            <a:endParaRPr lang="en-US" sz="950" dirty="0"/>
          </a:p>
        </p:txBody>
      </p:sp>
      <p:sp>
        <p:nvSpPr>
          <p:cNvPr id="29" name="Text 22"/>
          <p:cNvSpPr/>
          <p:nvPr/>
        </p:nvSpPr>
        <p:spPr>
          <a:xfrm>
            <a:off x="7462540" y="1466329"/>
            <a:ext cx="1031602"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Identifies same product</a:t>
            </a:r>
            <a:endParaRPr lang="en-US" sz="950" dirty="0"/>
          </a:p>
        </p:txBody>
      </p:sp>
      <p:sp>
        <p:nvSpPr>
          <p:cNvPr id="30" name="Shape 23"/>
          <p:cNvSpPr/>
          <p:nvPr/>
        </p:nvSpPr>
        <p:spPr>
          <a:xfrm>
            <a:off x="3474765" y="1907158"/>
            <a:ext cx="5145584" cy="509439"/>
          </a:xfrm>
          <a:prstGeom prst="rect">
            <a:avLst/>
          </a:prstGeom>
          <a:solidFill>
            <a:srgbClr val="FFFFFF">
              <a:alpha val="4000"/>
            </a:srgbClr>
          </a:solidFill>
          <a:ln/>
        </p:spPr>
      </p:sp>
      <p:sp>
        <p:nvSpPr>
          <p:cNvPr id="31" name="Text 24"/>
          <p:cNvSpPr/>
          <p:nvPr/>
        </p:nvSpPr>
        <p:spPr>
          <a:xfrm>
            <a:off x="3600971" y="1975768"/>
            <a:ext cx="1488802"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String Matching</a:t>
            </a:r>
            <a:endParaRPr lang="en-US" sz="950" dirty="0"/>
          </a:p>
        </p:txBody>
      </p:sp>
      <p:sp>
        <p:nvSpPr>
          <p:cNvPr id="32" name="Text 25"/>
          <p:cNvSpPr/>
          <p:nvPr/>
        </p:nvSpPr>
        <p:spPr>
          <a:xfrm>
            <a:off x="4889748" y="1975768"/>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Text comparison</a:t>
            </a:r>
            <a:endParaRPr lang="en-US" sz="950" dirty="0"/>
          </a:p>
        </p:txBody>
      </p:sp>
      <p:sp>
        <p:nvSpPr>
          <p:cNvPr id="33" name="Text 26"/>
          <p:cNvSpPr/>
          <p:nvPr/>
        </p:nvSpPr>
        <p:spPr>
          <a:xfrm>
            <a:off x="6176144" y="1975768"/>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Naming differences</a:t>
            </a:r>
            <a:endParaRPr lang="en-US" sz="950" dirty="0"/>
          </a:p>
        </p:txBody>
      </p:sp>
      <p:sp>
        <p:nvSpPr>
          <p:cNvPr id="34" name="Text 27"/>
          <p:cNvSpPr/>
          <p:nvPr/>
        </p:nvSpPr>
        <p:spPr>
          <a:xfrm>
            <a:off x="7462540" y="1975768"/>
            <a:ext cx="1031602"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Compares product titles</a:t>
            </a:r>
            <a:endParaRPr lang="en-US" sz="950" dirty="0"/>
          </a:p>
        </p:txBody>
      </p:sp>
      <p:sp>
        <p:nvSpPr>
          <p:cNvPr id="35" name="Shape 28"/>
          <p:cNvSpPr/>
          <p:nvPr/>
        </p:nvSpPr>
        <p:spPr>
          <a:xfrm>
            <a:off x="3474765" y="2416597"/>
            <a:ext cx="5145584" cy="323329"/>
          </a:xfrm>
          <a:prstGeom prst="rect">
            <a:avLst/>
          </a:prstGeom>
          <a:solidFill>
            <a:srgbClr val="000000">
              <a:alpha val="4000"/>
            </a:srgbClr>
          </a:solidFill>
          <a:ln/>
        </p:spPr>
      </p:sp>
      <p:sp>
        <p:nvSpPr>
          <p:cNvPr id="36" name="Text 29"/>
          <p:cNvSpPr/>
          <p:nvPr/>
        </p:nvSpPr>
        <p:spPr>
          <a:xfrm>
            <a:off x="3600971" y="2485206"/>
            <a:ext cx="1488802"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Hashing</a:t>
            </a:r>
            <a:endParaRPr lang="en-US" sz="950" dirty="0"/>
          </a:p>
        </p:txBody>
      </p:sp>
      <p:sp>
        <p:nvSpPr>
          <p:cNvPr id="37" name="Text 30"/>
          <p:cNvSpPr/>
          <p:nvPr/>
        </p:nvSpPr>
        <p:spPr>
          <a:xfrm>
            <a:off x="4889748" y="2485206"/>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Fast lookup</a:t>
            </a:r>
            <a:endParaRPr lang="en-US" sz="950" dirty="0"/>
          </a:p>
        </p:txBody>
      </p:sp>
      <p:sp>
        <p:nvSpPr>
          <p:cNvPr id="38" name="Text 31"/>
          <p:cNvSpPr/>
          <p:nvPr/>
        </p:nvSpPr>
        <p:spPr>
          <a:xfrm>
            <a:off x="6176144" y="2485206"/>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Collision handling</a:t>
            </a:r>
            <a:endParaRPr lang="en-US" sz="950" dirty="0"/>
          </a:p>
        </p:txBody>
      </p:sp>
      <p:sp>
        <p:nvSpPr>
          <p:cNvPr id="39" name="Text 32"/>
          <p:cNvSpPr/>
          <p:nvPr/>
        </p:nvSpPr>
        <p:spPr>
          <a:xfrm>
            <a:off x="7462540" y="2485206"/>
            <a:ext cx="1488802"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Efficient matching</a:t>
            </a:r>
            <a:endParaRPr lang="en-US" sz="950" dirty="0"/>
          </a:p>
        </p:txBody>
      </p:sp>
      <p:sp>
        <p:nvSpPr>
          <p:cNvPr id="40" name="Shape 33"/>
          <p:cNvSpPr/>
          <p:nvPr/>
        </p:nvSpPr>
        <p:spPr>
          <a:xfrm>
            <a:off x="3474765" y="2739926"/>
            <a:ext cx="5145584" cy="509439"/>
          </a:xfrm>
          <a:prstGeom prst="rect">
            <a:avLst/>
          </a:prstGeom>
          <a:solidFill>
            <a:srgbClr val="FFFFFF">
              <a:alpha val="4000"/>
            </a:srgbClr>
          </a:solidFill>
          <a:ln/>
        </p:spPr>
      </p:sp>
      <p:sp>
        <p:nvSpPr>
          <p:cNvPr id="41" name="Text 34"/>
          <p:cNvSpPr/>
          <p:nvPr/>
        </p:nvSpPr>
        <p:spPr>
          <a:xfrm>
            <a:off x="3600971" y="2808536"/>
            <a:ext cx="1488802"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Similarity</a:t>
            </a:r>
            <a:endParaRPr lang="en-US" sz="950" dirty="0"/>
          </a:p>
        </p:txBody>
      </p:sp>
      <p:sp>
        <p:nvSpPr>
          <p:cNvPr id="42" name="Text 35"/>
          <p:cNvSpPr/>
          <p:nvPr/>
        </p:nvSpPr>
        <p:spPr>
          <a:xfrm>
            <a:off x="4889748" y="2808536"/>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Similarity scoring</a:t>
            </a:r>
            <a:endParaRPr lang="en-US" sz="950" dirty="0"/>
          </a:p>
        </p:txBody>
      </p:sp>
      <p:sp>
        <p:nvSpPr>
          <p:cNvPr id="43" name="Text 36"/>
          <p:cNvSpPr/>
          <p:nvPr/>
        </p:nvSpPr>
        <p:spPr>
          <a:xfrm>
            <a:off x="6176144" y="2808536"/>
            <a:ext cx="1029221"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Threshold selection</a:t>
            </a:r>
            <a:endParaRPr lang="en-US" sz="950" dirty="0"/>
          </a:p>
        </p:txBody>
      </p:sp>
      <p:sp>
        <p:nvSpPr>
          <p:cNvPr id="44" name="Text 37"/>
          <p:cNvSpPr/>
          <p:nvPr/>
        </p:nvSpPr>
        <p:spPr>
          <a:xfrm>
            <a:off x="7462540" y="2808536"/>
            <a:ext cx="1031602"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Detects equivalent listings</a:t>
            </a:r>
            <a:endParaRPr lang="en-US" sz="950" dirty="0"/>
          </a:p>
        </p:txBody>
      </p:sp>
      <p:sp>
        <p:nvSpPr>
          <p:cNvPr id="45" name="Shape 38"/>
          <p:cNvSpPr/>
          <p:nvPr/>
        </p:nvSpPr>
        <p:spPr>
          <a:xfrm>
            <a:off x="3474765" y="3249364"/>
            <a:ext cx="5145584" cy="509439"/>
          </a:xfrm>
          <a:prstGeom prst="rect">
            <a:avLst/>
          </a:prstGeom>
          <a:solidFill>
            <a:srgbClr val="000000">
              <a:alpha val="4000"/>
            </a:srgbClr>
          </a:solidFill>
          <a:ln/>
        </p:spPr>
      </p:sp>
      <p:sp>
        <p:nvSpPr>
          <p:cNvPr id="46" name="Text 39"/>
          <p:cNvSpPr/>
          <p:nvPr/>
        </p:nvSpPr>
        <p:spPr>
          <a:xfrm>
            <a:off x="3600971" y="3317974"/>
            <a:ext cx="1031602"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E-Commerce Matching</a:t>
            </a:r>
            <a:endParaRPr lang="en-US" sz="950" dirty="0"/>
          </a:p>
        </p:txBody>
      </p:sp>
      <p:sp>
        <p:nvSpPr>
          <p:cNvPr id="47" name="Text 40"/>
          <p:cNvSpPr/>
          <p:nvPr/>
        </p:nvSpPr>
        <p:spPr>
          <a:xfrm>
            <a:off x="4889748" y="3317974"/>
            <a:ext cx="1486421"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Product matching</a:t>
            </a:r>
            <a:endParaRPr lang="en-US" sz="950" dirty="0"/>
          </a:p>
        </p:txBody>
      </p:sp>
      <p:sp>
        <p:nvSpPr>
          <p:cNvPr id="48" name="Text 41"/>
          <p:cNvSpPr/>
          <p:nvPr/>
        </p:nvSpPr>
        <p:spPr>
          <a:xfrm>
            <a:off x="6176144" y="3317974"/>
            <a:ext cx="1029221"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Large catalogue size</a:t>
            </a:r>
            <a:endParaRPr lang="en-US" sz="950" dirty="0"/>
          </a:p>
        </p:txBody>
      </p:sp>
      <p:sp>
        <p:nvSpPr>
          <p:cNvPr id="49" name="Text 42"/>
          <p:cNvSpPr/>
          <p:nvPr/>
        </p:nvSpPr>
        <p:spPr>
          <a:xfrm>
            <a:off x="7462540" y="3317974"/>
            <a:ext cx="1031602"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Product deduplication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450279"/>
            <a:ext cx="8096845" cy="440010"/>
          </a:xfrm>
          <a:prstGeom prst="rect">
            <a:avLst/>
          </a:prstGeom>
          <a:noFill/>
          <a:ln/>
        </p:spPr>
        <p:txBody>
          <a:bodyPr wrap="none" lIns="0" tIns="0" rIns="0" bIns="0" rtlCol="0" anchor="t"/>
          <a:lstStyle/>
          <a:p>
            <a:pPr marL="0" indent="0" algn="l">
              <a:lnSpc>
                <a:spcPct val="104000"/>
              </a:lnSpc>
              <a:buNone/>
            </a:pPr>
            <a:r>
              <a:rPr lang="en-US" sz="2750" dirty="0">
                <a:solidFill>
                  <a:srgbClr val="F98AC7"/>
                </a:solidFill>
                <a:latin typeface="Lora" pitchFamily="34" charset="0"/>
                <a:ea typeface="Lora" pitchFamily="34" charset="-122"/>
                <a:cs typeface="Lora" pitchFamily="34" charset="-120"/>
              </a:rPr>
              <a:t>Methodology</a:t>
            </a:r>
            <a:endParaRPr lang="en-US" sz="2750" dirty="0"/>
          </a:p>
        </p:txBody>
      </p:sp>
      <p:sp>
        <p:nvSpPr>
          <p:cNvPr id="3" name="Shape 1"/>
          <p:cNvSpPr/>
          <p:nvPr/>
        </p:nvSpPr>
        <p:spPr>
          <a:xfrm>
            <a:off x="523577" y="1282898"/>
            <a:ext cx="2596679" cy="1540892"/>
          </a:xfrm>
          <a:prstGeom prst="roundRect">
            <a:avLst>
              <a:gd name="adj" fmla="val 1456"/>
            </a:avLst>
          </a:prstGeom>
          <a:solidFill>
            <a:srgbClr val="790645"/>
          </a:solidFill>
          <a:ln/>
        </p:spPr>
      </p:sp>
      <p:pic>
        <p:nvPicPr>
          <p:cNvPr id="4" name="Image 0" descr="preencoded.png"/>
          <p:cNvPicPr>
            <a:picLocks noChangeAspect="1"/>
          </p:cNvPicPr>
          <p:nvPr/>
        </p:nvPicPr>
        <p:blipFill>
          <a:blip r:embed="rId3"/>
          <a:stretch>
            <a:fillRect/>
          </a:stretch>
        </p:blipFill>
        <p:spPr>
          <a:xfrm>
            <a:off x="673150" y="1500857"/>
            <a:ext cx="187003" cy="149572"/>
          </a:xfrm>
          <a:prstGeom prst="rect">
            <a:avLst/>
          </a:prstGeom>
        </p:spPr>
      </p:pic>
      <p:sp>
        <p:nvSpPr>
          <p:cNvPr id="5" name="Text 2"/>
          <p:cNvSpPr/>
          <p:nvPr/>
        </p:nvSpPr>
        <p:spPr>
          <a:xfrm>
            <a:off x="1009724" y="1454869"/>
            <a:ext cx="1960959" cy="119695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FFFFFF"/>
                </a:solidFill>
                <a:latin typeface="Source Sans 3" pitchFamily="34" charset="0"/>
                <a:ea typeface="Source Sans 3" pitchFamily="34" charset="-122"/>
                <a:cs typeface="Source Sans 3" pitchFamily="34" charset="-120"/>
              </a:rPr>
              <a:t>Existing techniques address individual aspects. This platform </a:t>
            </a:r>
            <a:r>
              <a:rPr lang="en-US" sz="1150" b="1" dirty="0">
                <a:solidFill>
                  <a:srgbClr val="FFFFFF"/>
                </a:solidFill>
                <a:latin typeface="Source Sans 3 Bold" pitchFamily="34" charset="0"/>
                <a:ea typeface="Source Sans 3 Bold" pitchFamily="34" charset="-122"/>
                <a:cs typeface="Source Sans 3 Bold" pitchFamily="34" charset="-120"/>
              </a:rPr>
              <a:t>combines</a:t>
            </a:r>
            <a:r>
              <a:rPr lang="en-US" sz="1150" dirty="0">
                <a:solidFill>
                  <a:srgbClr val="FFFFFF"/>
                </a:solidFill>
                <a:latin typeface="Source Sans 3" pitchFamily="34" charset="0"/>
                <a:ea typeface="Source Sans 3" pitchFamily="34" charset="-122"/>
                <a:cs typeface="Source Sans 3" pitchFamily="34" charset="-120"/>
              </a:rPr>
              <a:t> all stages into a unified e-commerce matching workflow.</a:t>
            </a:r>
            <a:endParaRPr lang="en-US" sz="1150" dirty="0"/>
          </a:p>
        </p:txBody>
      </p:sp>
      <p:sp>
        <p:nvSpPr>
          <p:cNvPr id="6" name="Text 3"/>
          <p:cNvSpPr/>
          <p:nvPr/>
        </p:nvSpPr>
        <p:spPr>
          <a:xfrm>
            <a:off x="523577" y="2992041"/>
            <a:ext cx="2596679" cy="219968"/>
          </a:xfrm>
          <a:prstGeom prst="rect">
            <a:avLst/>
          </a:prstGeom>
          <a:noFill/>
          <a:ln/>
        </p:spPr>
        <p:txBody>
          <a:bodyPr wrap="none" lIns="0" tIns="0" rIns="0" bIns="0" rtlCol="0" anchor="t"/>
          <a:lstStyle/>
          <a:p>
            <a:pPr marL="0" indent="0" algn="l">
              <a:lnSpc>
                <a:spcPct val="104000"/>
              </a:lnSpc>
              <a:buNone/>
            </a:pPr>
            <a:r>
              <a:rPr lang="en-US" sz="1350" dirty="0">
                <a:solidFill>
                  <a:srgbClr val="F98AC7"/>
                </a:solidFill>
                <a:latin typeface="Lora" pitchFamily="34" charset="0"/>
                <a:ea typeface="Lora" pitchFamily="34" charset="-122"/>
                <a:cs typeface="Lora" pitchFamily="34" charset="-120"/>
              </a:rPr>
              <a:t>Research Gap / Motivation</a:t>
            </a:r>
            <a:endParaRPr lang="en-US" sz="1350" dirty="0"/>
          </a:p>
        </p:txBody>
      </p:sp>
      <p:sp>
        <p:nvSpPr>
          <p:cNvPr id="7" name="Text 4"/>
          <p:cNvSpPr/>
          <p:nvPr/>
        </p:nvSpPr>
        <p:spPr>
          <a:xfrm>
            <a:off x="523577" y="3361581"/>
            <a:ext cx="2596679" cy="119695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6E5EF"/>
                </a:solidFill>
                <a:latin typeface="Source Sans 3" pitchFamily="34" charset="0"/>
                <a:ea typeface="Source Sans 3" pitchFamily="34" charset="-122"/>
                <a:cs typeface="Source Sans 3" pitchFamily="34" charset="-120"/>
              </a:rPr>
              <a:t>No single existing approach integrates preprocessing, attribute extraction, string matching, hashing, similarity scoring, and canonical grouping into one practical pipeline.</a:t>
            </a:r>
            <a:endParaRPr lang="en-US" sz="1150" dirty="0"/>
          </a:p>
        </p:txBody>
      </p:sp>
      <p:pic>
        <p:nvPicPr>
          <p:cNvPr id="8" name="Image 1" descr="preencoded.png"/>
          <p:cNvPicPr>
            <a:picLocks noChangeAspect="1"/>
          </p:cNvPicPr>
          <p:nvPr/>
        </p:nvPicPr>
        <p:blipFill>
          <a:blip r:embed="rId4"/>
          <a:stretch>
            <a:fillRect/>
          </a:stretch>
        </p:blipFill>
        <p:spPr>
          <a:xfrm>
            <a:off x="3489945" y="1794867"/>
            <a:ext cx="5135166" cy="2218060"/>
          </a:xfrm>
          <a:prstGeom prst="rect">
            <a:avLst/>
          </a:prstGeom>
        </p:spPr>
      </p:pic>
      <p:sp>
        <p:nvSpPr>
          <p:cNvPr id="9" name="Text 5"/>
          <p:cNvSpPr/>
          <p:nvPr/>
        </p:nvSpPr>
        <p:spPr>
          <a:xfrm>
            <a:off x="4715355" y="3289033"/>
            <a:ext cx="762465" cy="261227"/>
          </a:xfrm>
          <a:prstGeom prst="rect">
            <a:avLst/>
          </a:prstGeom>
          <a:noFill/>
          <a:ln/>
        </p:spPr>
        <p:txBody>
          <a:bodyPr wrap="square" lIns="0" tIns="0" rIns="0" bIns="0" rtlCol="0" anchor="t">
            <a:normAutofit/>
          </a:bodyPr>
          <a:lstStyle/>
          <a:p>
            <a:pPr marL="0" indent="0" algn="ctr">
              <a:lnSpc>
                <a:spcPct val="104000"/>
              </a:lnSpc>
              <a:buNone/>
            </a:pPr>
            <a:r>
              <a:rPr lang="en-US" sz="800" dirty="0">
                <a:solidFill>
                  <a:srgbClr val="D6E5EF"/>
                </a:solidFill>
                <a:latin typeface="Lora" pitchFamily="34" charset="0"/>
                <a:ea typeface="Lora" pitchFamily="34" charset="-122"/>
                <a:cs typeface="Lora" pitchFamily="34" charset="-120"/>
              </a:rPr>
              <a:t>Data Preprocessing</a:t>
            </a:r>
            <a:endParaRPr lang="en-US" sz="800" dirty="0"/>
          </a:p>
        </p:txBody>
      </p:sp>
      <p:sp>
        <p:nvSpPr>
          <p:cNvPr id="10" name="Text 6"/>
          <p:cNvSpPr/>
          <p:nvPr/>
        </p:nvSpPr>
        <p:spPr>
          <a:xfrm>
            <a:off x="4715355" y="3589760"/>
            <a:ext cx="762465" cy="222189"/>
          </a:xfrm>
          <a:prstGeom prst="rect">
            <a:avLst/>
          </a:prstGeom>
          <a:noFill/>
          <a:ln/>
        </p:spPr>
        <p:txBody>
          <a:bodyPr wrap="square" lIns="0" tIns="0" rIns="0" bIns="0" rtlCol="0" anchor="t">
            <a:normAutofit/>
          </a:bodyPr>
          <a:lstStyle/>
          <a:p>
            <a:pPr marL="0" indent="0" algn="ctr">
              <a:lnSpc>
                <a:spcPct val="104000"/>
              </a:lnSpc>
              <a:buNone/>
            </a:pPr>
            <a:r>
              <a:rPr lang="en-US" sz="650" dirty="0">
                <a:solidFill>
                  <a:srgbClr val="D6E5EF"/>
                </a:solidFill>
                <a:latin typeface="Source Sans 3" pitchFamily="34" charset="0"/>
                <a:ea typeface="Source Sans 3" pitchFamily="34" charset="-122"/>
                <a:cs typeface="Source Sans 3" pitchFamily="34" charset="-120"/>
              </a:rPr>
              <a:t>Clean and normalize attributes</a:t>
            </a:r>
            <a:endParaRPr lang="en-US" sz="650" dirty="0"/>
          </a:p>
        </p:txBody>
      </p:sp>
      <p:sp>
        <p:nvSpPr>
          <p:cNvPr id="11" name="Text 7"/>
          <p:cNvSpPr/>
          <p:nvPr/>
        </p:nvSpPr>
        <p:spPr>
          <a:xfrm>
            <a:off x="6673168" y="3289033"/>
            <a:ext cx="762464" cy="261227"/>
          </a:xfrm>
          <a:prstGeom prst="rect">
            <a:avLst/>
          </a:prstGeom>
          <a:noFill/>
          <a:ln/>
        </p:spPr>
        <p:txBody>
          <a:bodyPr wrap="square" lIns="0" tIns="0" rIns="0" bIns="0" rtlCol="0" anchor="t">
            <a:normAutofit/>
          </a:bodyPr>
          <a:lstStyle/>
          <a:p>
            <a:pPr marL="0" indent="0" algn="ctr">
              <a:lnSpc>
                <a:spcPct val="104000"/>
              </a:lnSpc>
              <a:buNone/>
            </a:pPr>
            <a:r>
              <a:rPr lang="en-US" sz="800" dirty="0">
                <a:solidFill>
                  <a:srgbClr val="F98AC7"/>
                </a:solidFill>
                <a:latin typeface="Lora" pitchFamily="34" charset="0"/>
                <a:ea typeface="Lora" pitchFamily="34" charset="-122"/>
                <a:cs typeface="Lora" pitchFamily="34" charset="-120"/>
              </a:rPr>
              <a:t>String Matching</a:t>
            </a:r>
            <a:endParaRPr lang="en-US" sz="800" dirty="0"/>
          </a:p>
        </p:txBody>
      </p:sp>
      <p:sp>
        <p:nvSpPr>
          <p:cNvPr id="12" name="Text 8"/>
          <p:cNvSpPr/>
          <p:nvPr/>
        </p:nvSpPr>
        <p:spPr>
          <a:xfrm>
            <a:off x="6673168" y="3589760"/>
            <a:ext cx="762464" cy="222189"/>
          </a:xfrm>
          <a:prstGeom prst="rect">
            <a:avLst/>
          </a:prstGeom>
          <a:noFill/>
          <a:ln/>
        </p:spPr>
        <p:txBody>
          <a:bodyPr wrap="square" lIns="0" tIns="0" rIns="0" bIns="0" rtlCol="0" anchor="t">
            <a:normAutofit/>
          </a:bodyPr>
          <a:lstStyle/>
          <a:p>
            <a:pPr marL="0" indent="0" algn="ctr">
              <a:lnSpc>
                <a:spcPct val="104000"/>
              </a:lnSpc>
              <a:buNone/>
            </a:pPr>
            <a:r>
              <a:rPr lang="en-US" sz="650" dirty="0">
                <a:solidFill>
                  <a:srgbClr val="D6E5EF"/>
                </a:solidFill>
                <a:latin typeface="Source Sans 3" pitchFamily="34" charset="0"/>
                <a:ea typeface="Source Sans 3" pitchFamily="34" charset="-122"/>
                <a:cs typeface="Source Sans 3" pitchFamily="34" charset="-120"/>
              </a:rPr>
              <a:t>Normalize and compare text</a:t>
            </a:r>
            <a:endParaRPr lang="en-US" sz="650" dirty="0"/>
          </a:p>
        </p:txBody>
      </p:sp>
      <p:sp>
        <p:nvSpPr>
          <p:cNvPr id="13" name="Text 9"/>
          <p:cNvSpPr/>
          <p:nvPr/>
        </p:nvSpPr>
        <p:spPr>
          <a:xfrm>
            <a:off x="3738879" y="1995011"/>
            <a:ext cx="762465" cy="261227"/>
          </a:xfrm>
          <a:prstGeom prst="rect">
            <a:avLst/>
          </a:prstGeom>
          <a:noFill/>
          <a:ln/>
        </p:spPr>
        <p:txBody>
          <a:bodyPr wrap="square" lIns="0" tIns="0" rIns="0" bIns="0" rtlCol="0" anchor="t">
            <a:normAutofit/>
          </a:bodyPr>
          <a:lstStyle/>
          <a:p>
            <a:pPr marL="0" indent="0" algn="ctr">
              <a:lnSpc>
                <a:spcPct val="104000"/>
              </a:lnSpc>
              <a:buNone/>
            </a:pPr>
            <a:r>
              <a:rPr lang="en-US" sz="800" dirty="0">
                <a:solidFill>
                  <a:srgbClr val="D6E5EF"/>
                </a:solidFill>
                <a:latin typeface="Lora" pitchFamily="34" charset="0"/>
                <a:ea typeface="Lora" pitchFamily="34" charset="-122"/>
                <a:cs typeface="Lora" pitchFamily="34" charset="-120"/>
              </a:rPr>
              <a:t>Product Listings</a:t>
            </a:r>
            <a:endParaRPr lang="en-US" sz="800" dirty="0"/>
          </a:p>
        </p:txBody>
      </p:sp>
      <p:sp>
        <p:nvSpPr>
          <p:cNvPr id="14" name="Text 10"/>
          <p:cNvSpPr/>
          <p:nvPr/>
        </p:nvSpPr>
        <p:spPr>
          <a:xfrm>
            <a:off x="3738879" y="2295738"/>
            <a:ext cx="762465" cy="222189"/>
          </a:xfrm>
          <a:prstGeom prst="rect">
            <a:avLst/>
          </a:prstGeom>
          <a:noFill/>
          <a:ln/>
        </p:spPr>
        <p:txBody>
          <a:bodyPr wrap="square" lIns="0" tIns="0" rIns="0" bIns="0" rtlCol="0" anchor="t">
            <a:normAutofit/>
          </a:bodyPr>
          <a:lstStyle/>
          <a:p>
            <a:pPr marL="0" indent="0" algn="ctr">
              <a:lnSpc>
                <a:spcPct val="104000"/>
              </a:lnSpc>
              <a:buNone/>
            </a:pPr>
            <a:r>
              <a:rPr lang="en-US" sz="650" dirty="0">
                <a:solidFill>
                  <a:srgbClr val="D6E5EF"/>
                </a:solidFill>
                <a:latin typeface="Source Sans 3" pitchFamily="34" charset="0"/>
                <a:ea typeface="Source Sans 3" pitchFamily="34" charset="-122"/>
                <a:cs typeface="Source Sans 3" pitchFamily="34" charset="-120"/>
              </a:rPr>
              <a:t>Collect raw marketplace data</a:t>
            </a:r>
            <a:endParaRPr lang="en-US" sz="650" dirty="0"/>
          </a:p>
        </p:txBody>
      </p:sp>
      <p:sp>
        <p:nvSpPr>
          <p:cNvPr id="15" name="Text 11"/>
          <p:cNvSpPr/>
          <p:nvPr/>
        </p:nvSpPr>
        <p:spPr>
          <a:xfrm>
            <a:off x="7620559" y="1995011"/>
            <a:ext cx="762465" cy="130614"/>
          </a:xfrm>
          <a:prstGeom prst="rect">
            <a:avLst/>
          </a:prstGeom>
          <a:noFill/>
          <a:ln/>
        </p:spPr>
        <p:txBody>
          <a:bodyPr wrap="none" lIns="0" tIns="0" rIns="0" bIns="0" rtlCol="0" anchor="t"/>
          <a:lstStyle/>
          <a:p>
            <a:pPr marL="0" indent="0" algn="ctr">
              <a:lnSpc>
                <a:spcPct val="104000"/>
              </a:lnSpc>
              <a:buNone/>
            </a:pPr>
            <a:r>
              <a:rPr lang="en-US" sz="800" dirty="0">
                <a:solidFill>
                  <a:srgbClr val="D6E5EF"/>
                </a:solidFill>
                <a:latin typeface="Lora" pitchFamily="34" charset="0"/>
                <a:ea typeface="Lora" pitchFamily="34" charset="-122"/>
                <a:cs typeface="Lora" pitchFamily="34" charset="-120"/>
              </a:rPr>
              <a:t>Fast Lookup</a:t>
            </a:r>
            <a:endParaRPr lang="en-US" sz="800" dirty="0"/>
          </a:p>
        </p:txBody>
      </p:sp>
      <p:sp>
        <p:nvSpPr>
          <p:cNvPr id="16" name="Text 12"/>
          <p:cNvSpPr/>
          <p:nvPr/>
        </p:nvSpPr>
        <p:spPr>
          <a:xfrm>
            <a:off x="7620559" y="2165125"/>
            <a:ext cx="762465" cy="222189"/>
          </a:xfrm>
          <a:prstGeom prst="rect">
            <a:avLst/>
          </a:prstGeom>
          <a:noFill/>
          <a:ln/>
        </p:spPr>
        <p:txBody>
          <a:bodyPr wrap="square" lIns="0" tIns="0" rIns="0" bIns="0" rtlCol="0" anchor="t">
            <a:normAutofit/>
          </a:bodyPr>
          <a:lstStyle/>
          <a:p>
            <a:pPr marL="0" indent="0" algn="ctr">
              <a:lnSpc>
                <a:spcPct val="104000"/>
              </a:lnSpc>
              <a:buNone/>
            </a:pPr>
            <a:r>
              <a:rPr lang="en-US" sz="650" dirty="0">
                <a:solidFill>
                  <a:srgbClr val="D6E5EF"/>
                </a:solidFill>
                <a:latin typeface="Source Sans 3" pitchFamily="34" charset="0"/>
                <a:ea typeface="Source Sans 3" pitchFamily="34" charset="-122"/>
                <a:cs typeface="Source Sans 3" pitchFamily="34" charset="-120"/>
              </a:rPr>
              <a:t>Hashing for quick candidate retrieval</a:t>
            </a:r>
            <a:endParaRPr lang="en-US" sz="650" dirty="0"/>
          </a:p>
        </p:txBody>
      </p:sp>
      <p:sp>
        <p:nvSpPr>
          <p:cNvPr id="17" name="Text 13"/>
          <p:cNvSpPr/>
          <p:nvPr/>
        </p:nvSpPr>
        <p:spPr>
          <a:xfrm>
            <a:off x="5706413" y="1995011"/>
            <a:ext cx="762465" cy="261227"/>
          </a:xfrm>
          <a:prstGeom prst="rect">
            <a:avLst/>
          </a:prstGeom>
          <a:noFill/>
          <a:ln/>
        </p:spPr>
        <p:txBody>
          <a:bodyPr wrap="square" lIns="0" tIns="0" rIns="0" bIns="0" rtlCol="0" anchor="t">
            <a:normAutofit/>
          </a:bodyPr>
          <a:lstStyle/>
          <a:p>
            <a:pPr marL="0" indent="0" algn="ctr">
              <a:lnSpc>
                <a:spcPct val="104000"/>
              </a:lnSpc>
              <a:buNone/>
            </a:pPr>
            <a:r>
              <a:rPr lang="en-US" sz="800" dirty="0">
                <a:solidFill>
                  <a:srgbClr val="F98AC7"/>
                </a:solidFill>
                <a:latin typeface="Lora" pitchFamily="34" charset="0"/>
                <a:ea typeface="Lora" pitchFamily="34" charset="-122"/>
                <a:cs typeface="Lora" pitchFamily="34" charset="-120"/>
              </a:rPr>
              <a:t>Attribute Extraction</a:t>
            </a:r>
            <a:endParaRPr lang="en-US" sz="800" dirty="0"/>
          </a:p>
        </p:txBody>
      </p:sp>
      <p:sp>
        <p:nvSpPr>
          <p:cNvPr id="18" name="Text 14"/>
          <p:cNvSpPr/>
          <p:nvPr/>
        </p:nvSpPr>
        <p:spPr>
          <a:xfrm>
            <a:off x="5706413" y="2295738"/>
            <a:ext cx="762465" cy="222189"/>
          </a:xfrm>
          <a:prstGeom prst="rect">
            <a:avLst/>
          </a:prstGeom>
          <a:noFill/>
          <a:ln/>
        </p:spPr>
        <p:txBody>
          <a:bodyPr wrap="square" lIns="0" tIns="0" rIns="0" bIns="0" rtlCol="0" anchor="t">
            <a:normAutofit/>
          </a:bodyPr>
          <a:lstStyle/>
          <a:p>
            <a:pPr marL="0" indent="0" algn="ctr">
              <a:lnSpc>
                <a:spcPct val="104000"/>
              </a:lnSpc>
              <a:buNone/>
            </a:pPr>
            <a:r>
              <a:rPr lang="en-US" sz="650" dirty="0">
                <a:solidFill>
                  <a:srgbClr val="D6E5EF"/>
                </a:solidFill>
                <a:latin typeface="Source Sans 3" pitchFamily="34" charset="0"/>
                <a:ea typeface="Source Sans 3" pitchFamily="34" charset="-122"/>
                <a:cs typeface="Source Sans 3" pitchFamily="34" charset="-120"/>
              </a:rPr>
              <a:t>Identify key product features</a:t>
            </a:r>
            <a:endParaRPr lang="en-US" sz="650" dirty="0"/>
          </a:p>
        </p:txBody>
      </p:sp>
      <p:pic>
        <p:nvPicPr>
          <p:cNvPr id="20" name="Picture 19">
            <a:extLst>
              <a:ext uri="{FF2B5EF4-FFF2-40B4-BE49-F238E27FC236}">
                <a16:creationId xmlns:a16="http://schemas.microsoft.com/office/drawing/2014/main" id="{4EA306F9-E97A-AF90-7011-6015A5DFF195}"/>
              </a:ext>
            </a:extLst>
          </p:cNvPr>
          <p:cNvPicPr>
            <a:picLocks noChangeAspect="1"/>
          </p:cNvPicPr>
          <p:nvPr/>
        </p:nvPicPr>
        <p:blipFill>
          <a:blip r:embed="rId5"/>
          <a:stretch>
            <a:fillRect/>
          </a:stretch>
        </p:blipFill>
        <p:spPr>
          <a:xfrm>
            <a:off x="-84406" y="0"/>
            <a:ext cx="9228405"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413296"/>
            <a:ext cx="8096845" cy="371326"/>
          </a:xfrm>
          <a:prstGeom prst="rect">
            <a:avLst/>
          </a:prstGeom>
          <a:noFill/>
          <a:ln/>
        </p:spPr>
        <p:txBody>
          <a:bodyPr wrap="none" lIns="0" tIns="0" rIns="0" bIns="0" rtlCol="0" anchor="t"/>
          <a:lstStyle/>
          <a:p>
            <a:pPr marL="0" indent="0" algn="l">
              <a:lnSpc>
                <a:spcPct val="104000"/>
              </a:lnSpc>
              <a:buNone/>
            </a:pPr>
            <a:r>
              <a:rPr lang="en-US" sz="2300" dirty="0">
                <a:solidFill>
                  <a:srgbClr val="F98AC7"/>
                </a:solidFill>
                <a:latin typeface="Lora" pitchFamily="34" charset="0"/>
                <a:ea typeface="Lora" pitchFamily="34" charset="-122"/>
                <a:cs typeface="Lora" pitchFamily="34" charset="-120"/>
              </a:rPr>
              <a:t>DSA Concepts Used</a:t>
            </a:r>
            <a:endParaRPr lang="en-US" sz="2300" dirty="0"/>
          </a:p>
        </p:txBody>
      </p:sp>
      <p:sp>
        <p:nvSpPr>
          <p:cNvPr id="3" name="Shape 1"/>
          <p:cNvSpPr/>
          <p:nvPr/>
        </p:nvSpPr>
        <p:spPr>
          <a:xfrm>
            <a:off x="523577" y="997595"/>
            <a:ext cx="3995142" cy="1173212"/>
          </a:xfrm>
          <a:prstGeom prst="roundRect">
            <a:avLst>
              <a:gd name="adj" fmla="val 1614"/>
            </a:avLst>
          </a:prstGeom>
          <a:solidFill>
            <a:srgbClr val="444752"/>
          </a:solidFill>
          <a:ln/>
        </p:spPr>
      </p:sp>
      <p:sp>
        <p:nvSpPr>
          <p:cNvPr id="4" name="Shape 2"/>
          <p:cNvSpPr/>
          <p:nvPr/>
        </p:nvSpPr>
        <p:spPr>
          <a:xfrm>
            <a:off x="649784" y="1123801"/>
            <a:ext cx="378693" cy="378693"/>
          </a:xfrm>
          <a:prstGeom prst="ellipse">
            <a:avLst/>
          </a:prstGeom>
          <a:solidFill>
            <a:srgbClr val="6EB9FC"/>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3889" y="1227906"/>
            <a:ext cx="170408" cy="170408"/>
          </a:xfrm>
          <a:prstGeom prst="rect">
            <a:avLst/>
          </a:prstGeom>
        </p:spPr>
      </p:pic>
      <p:sp>
        <p:nvSpPr>
          <p:cNvPr id="6" name="Text 3"/>
          <p:cNvSpPr/>
          <p:nvPr/>
        </p:nvSpPr>
        <p:spPr>
          <a:xfrm>
            <a:off x="649784" y="1608981"/>
            <a:ext cx="3742730"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String Matching</a:t>
            </a:r>
            <a:endParaRPr lang="en-US" sz="1150" dirty="0"/>
          </a:p>
        </p:txBody>
      </p:sp>
      <p:sp>
        <p:nvSpPr>
          <p:cNvPr id="7" name="Text 4"/>
          <p:cNvSpPr/>
          <p:nvPr/>
        </p:nvSpPr>
        <p:spPr>
          <a:xfrm>
            <a:off x="649784" y="1858491"/>
            <a:ext cx="3742730"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Compares product titles &amp; textual attributes</a:t>
            </a:r>
            <a:endParaRPr lang="en-US" sz="950" dirty="0"/>
          </a:p>
        </p:txBody>
      </p:sp>
      <p:sp>
        <p:nvSpPr>
          <p:cNvPr id="8" name="Shape 5"/>
          <p:cNvSpPr/>
          <p:nvPr/>
        </p:nvSpPr>
        <p:spPr>
          <a:xfrm>
            <a:off x="4625206" y="997595"/>
            <a:ext cx="3995217" cy="1173212"/>
          </a:xfrm>
          <a:prstGeom prst="roundRect">
            <a:avLst>
              <a:gd name="adj" fmla="val 1614"/>
            </a:avLst>
          </a:prstGeom>
          <a:solidFill>
            <a:srgbClr val="444752"/>
          </a:solidFill>
          <a:ln/>
        </p:spPr>
      </p:sp>
      <p:sp>
        <p:nvSpPr>
          <p:cNvPr id="9" name="Shape 6"/>
          <p:cNvSpPr/>
          <p:nvPr/>
        </p:nvSpPr>
        <p:spPr>
          <a:xfrm>
            <a:off x="4751412" y="1123801"/>
            <a:ext cx="378693" cy="378693"/>
          </a:xfrm>
          <a:prstGeom prst="ellipse">
            <a:avLst/>
          </a:prstGeom>
          <a:solidFill>
            <a:srgbClr val="6EB9FC"/>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55518" y="1227906"/>
            <a:ext cx="170408" cy="170408"/>
          </a:xfrm>
          <a:prstGeom prst="rect">
            <a:avLst/>
          </a:prstGeom>
        </p:spPr>
      </p:pic>
      <p:sp>
        <p:nvSpPr>
          <p:cNvPr id="11" name="Text 7"/>
          <p:cNvSpPr/>
          <p:nvPr/>
        </p:nvSpPr>
        <p:spPr>
          <a:xfrm>
            <a:off x="4751412" y="1608981"/>
            <a:ext cx="3742804"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Hashing</a:t>
            </a:r>
            <a:endParaRPr lang="en-US" sz="1150" dirty="0"/>
          </a:p>
        </p:txBody>
      </p:sp>
      <p:sp>
        <p:nvSpPr>
          <p:cNvPr id="12" name="Text 8"/>
          <p:cNvSpPr/>
          <p:nvPr/>
        </p:nvSpPr>
        <p:spPr>
          <a:xfrm>
            <a:off x="4751412" y="1858491"/>
            <a:ext cx="3742804"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Efficient lookup &amp; matching across records</a:t>
            </a:r>
            <a:endParaRPr lang="en-US" sz="950" dirty="0"/>
          </a:p>
        </p:txBody>
      </p:sp>
      <p:sp>
        <p:nvSpPr>
          <p:cNvPr id="13" name="Shape 9"/>
          <p:cNvSpPr/>
          <p:nvPr/>
        </p:nvSpPr>
        <p:spPr>
          <a:xfrm>
            <a:off x="523577" y="2277294"/>
            <a:ext cx="3995142" cy="1173212"/>
          </a:xfrm>
          <a:prstGeom prst="roundRect">
            <a:avLst>
              <a:gd name="adj" fmla="val 1614"/>
            </a:avLst>
          </a:prstGeom>
          <a:solidFill>
            <a:srgbClr val="444752"/>
          </a:solidFill>
          <a:ln/>
        </p:spPr>
      </p:sp>
      <p:sp>
        <p:nvSpPr>
          <p:cNvPr id="14" name="Shape 10"/>
          <p:cNvSpPr/>
          <p:nvPr/>
        </p:nvSpPr>
        <p:spPr>
          <a:xfrm>
            <a:off x="649784" y="2403500"/>
            <a:ext cx="378693" cy="378693"/>
          </a:xfrm>
          <a:prstGeom prst="ellipse">
            <a:avLst/>
          </a:prstGeom>
          <a:solidFill>
            <a:srgbClr val="6EB9FC"/>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3889" y="2507605"/>
            <a:ext cx="170408" cy="170408"/>
          </a:xfrm>
          <a:prstGeom prst="rect">
            <a:avLst/>
          </a:prstGeom>
        </p:spPr>
      </p:pic>
      <p:sp>
        <p:nvSpPr>
          <p:cNvPr id="16" name="Text 11"/>
          <p:cNvSpPr/>
          <p:nvPr/>
        </p:nvSpPr>
        <p:spPr>
          <a:xfrm>
            <a:off x="649784" y="2888679"/>
            <a:ext cx="3742730"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Searching</a:t>
            </a:r>
            <a:endParaRPr lang="en-US" sz="1150" dirty="0"/>
          </a:p>
        </p:txBody>
      </p:sp>
      <p:sp>
        <p:nvSpPr>
          <p:cNvPr id="17" name="Text 12"/>
          <p:cNvSpPr/>
          <p:nvPr/>
        </p:nvSpPr>
        <p:spPr>
          <a:xfrm>
            <a:off x="649784" y="3138190"/>
            <a:ext cx="3742730"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Finds relevant records in large collections</a:t>
            </a:r>
            <a:endParaRPr lang="en-US" sz="950" dirty="0"/>
          </a:p>
        </p:txBody>
      </p:sp>
      <p:sp>
        <p:nvSpPr>
          <p:cNvPr id="18" name="Shape 13"/>
          <p:cNvSpPr/>
          <p:nvPr/>
        </p:nvSpPr>
        <p:spPr>
          <a:xfrm>
            <a:off x="4625206" y="2277294"/>
            <a:ext cx="3995217" cy="1173212"/>
          </a:xfrm>
          <a:prstGeom prst="roundRect">
            <a:avLst>
              <a:gd name="adj" fmla="val 1614"/>
            </a:avLst>
          </a:prstGeom>
          <a:solidFill>
            <a:srgbClr val="444752"/>
          </a:solidFill>
          <a:ln/>
        </p:spPr>
      </p:sp>
      <p:sp>
        <p:nvSpPr>
          <p:cNvPr id="19" name="Shape 14"/>
          <p:cNvSpPr/>
          <p:nvPr/>
        </p:nvSpPr>
        <p:spPr>
          <a:xfrm>
            <a:off x="4751412" y="2403500"/>
            <a:ext cx="378693" cy="378693"/>
          </a:xfrm>
          <a:prstGeom prst="ellipse">
            <a:avLst/>
          </a:prstGeom>
          <a:solidFill>
            <a:srgbClr val="6EB9FC"/>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55518" y="2507605"/>
            <a:ext cx="170408" cy="170408"/>
          </a:xfrm>
          <a:prstGeom prst="rect">
            <a:avLst/>
          </a:prstGeom>
        </p:spPr>
      </p:pic>
      <p:sp>
        <p:nvSpPr>
          <p:cNvPr id="21" name="Text 15"/>
          <p:cNvSpPr/>
          <p:nvPr/>
        </p:nvSpPr>
        <p:spPr>
          <a:xfrm>
            <a:off x="4751412" y="2888679"/>
            <a:ext cx="3742804"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Similarity Techniques</a:t>
            </a:r>
            <a:endParaRPr lang="en-US" sz="1150" dirty="0"/>
          </a:p>
        </p:txBody>
      </p:sp>
      <p:sp>
        <p:nvSpPr>
          <p:cNvPr id="22" name="Text 16"/>
          <p:cNvSpPr/>
          <p:nvPr/>
        </p:nvSpPr>
        <p:spPr>
          <a:xfrm>
            <a:off x="4751412" y="3138190"/>
            <a:ext cx="3742804"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Measures how closely listings correspond</a:t>
            </a:r>
            <a:endParaRPr lang="en-US" sz="950" dirty="0"/>
          </a:p>
        </p:txBody>
      </p:sp>
      <p:sp>
        <p:nvSpPr>
          <p:cNvPr id="23" name="Shape 17"/>
          <p:cNvSpPr/>
          <p:nvPr/>
        </p:nvSpPr>
        <p:spPr>
          <a:xfrm>
            <a:off x="523577" y="3556992"/>
            <a:ext cx="3995142" cy="1173212"/>
          </a:xfrm>
          <a:prstGeom prst="roundRect">
            <a:avLst>
              <a:gd name="adj" fmla="val 1614"/>
            </a:avLst>
          </a:prstGeom>
          <a:solidFill>
            <a:srgbClr val="444752"/>
          </a:solidFill>
          <a:ln/>
        </p:spPr>
      </p:sp>
      <p:sp>
        <p:nvSpPr>
          <p:cNvPr id="24" name="Shape 18"/>
          <p:cNvSpPr/>
          <p:nvPr/>
        </p:nvSpPr>
        <p:spPr>
          <a:xfrm>
            <a:off x="649784" y="3683198"/>
            <a:ext cx="378693" cy="378693"/>
          </a:xfrm>
          <a:prstGeom prst="ellipse">
            <a:avLst/>
          </a:prstGeom>
          <a:solidFill>
            <a:srgbClr val="6EB9FC"/>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3889" y="3787304"/>
            <a:ext cx="170408" cy="170408"/>
          </a:xfrm>
          <a:prstGeom prst="rect">
            <a:avLst/>
          </a:prstGeom>
        </p:spPr>
      </p:pic>
      <p:sp>
        <p:nvSpPr>
          <p:cNvPr id="26" name="Text 19"/>
          <p:cNvSpPr/>
          <p:nvPr/>
        </p:nvSpPr>
        <p:spPr>
          <a:xfrm>
            <a:off x="649784" y="4168378"/>
            <a:ext cx="3742730"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Deduplication</a:t>
            </a:r>
            <a:endParaRPr lang="en-US" sz="1150" dirty="0"/>
          </a:p>
        </p:txBody>
      </p:sp>
      <p:sp>
        <p:nvSpPr>
          <p:cNvPr id="27" name="Text 20"/>
          <p:cNvSpPr/>
          <p:nvPr/>
        </p:nvSpPr>
        <p:spPr>
          <a:xfrm>
            <a:off x="649784" y="4417888"/>
            <a:ext cx="3742730"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Groups equivalent listings, reduces repetition</a:t>
            </a:r>
            <a:endParaRPr lang="en-US" sz="950" dirty="0"/>
          </a:p>
        </p:txBody>
      </p:sp>
      <p:sp>
        <p:nvSpPr>
          <p:cNvPr id="28" name="Shape 21"/>
          <p:cNvSpPr/>
          <p:nvPr/>
        </p:nvSpPr>
        <p:spPr>
          <a:xfrm>
            <a:off x="4625206" y="3556992"/>
            <a:ext cx="3995217" cy="1173212"/>
          </a:xfrm>
          <a:prstGeom prst="roundRect">
            <a:avLst>
              <a:gd name="adj" fmla="val 1614"/>
            </a:avLst>
          </a:prstGeom>
          <a:solidFill>
            <a:srgbClr val="444752"/>
          </a:solidFill>
          <a:ln/>
        </p:spPr>
      </p:sp>
      <p:sp>
        <p:nvSpPr>
          <p:cNvPr id="29" name="Shape 22"/>
          <p:cNvSpPr/>
          <p:nvPr/>
        </p:nvSpPr>
        <p:spPr>
          <a:xfrm>
            <a:off x="4751412" y="3683198"/>
            <a:ext cx="378693" cy="378693"/>
          </a:xfrm>
          <a:prstGeom prst="ellipse">
            <a:avLst/>
          </a:prstGeom>
          <a:solidFill>
            <a:srgbClr val="6EB9FC"/>
          </a:solidFill>
          <a:ln/>
        </p:spPr>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55518" y="3787304"/>
            <a:ext cx="170408" cy="170408"/>
          </a:xfrm>
          <a:prstGeom prst="rect">
            <a:avLst/>
          </a:prstGeom>
        </p:spPr>
      </p:pic>
      <p:sp>
        <p:nvSpPr>
          <p:cNvPr id="31" name="Text 23"/>
          <p:cNvSpPr/>
          <p:nvPr/>
        </p:nvSpPr>
        <p:spPr>
          <a:xfrm>
            <a:off x="4751412" y="4168378"/>
            <a:ext cx="3742804" cy="185663"/>
          </a:xfrm>
          <a:prstGeom prst="rect">
            <a:avLst/>
          </a:prstGeom>
          <a:noFill/>
          <a:ln/>
        </p:spPr>
        <p:txBody>
          <a:bodyPr wrap="none" lIns="0" tIns="0" rIns="0" bIns="0" rtlCol="0" anchor="t"/>
          <a:lstStyle/>
          <a:p>
            <a:pPr marL="0" indent="0" algn="l">
              <a:lnSpc>
                <a:spcPct val="104000"/>
              </a:lnSpc>
              <a:buNone/>
            </a:pPr>
            <a:r>
              <a:rPr lang="en-US" sz="1150" dirty="0">
                <a:solidFill>
                  <a:srgbClr val="D6E5EF"/>
                </a:solidFill>
                <a:latin typeface="Lora" pitchFamily="34" charset="0"/>
                <a:ea typeface="Lora" pitchFamily="34" charset="-122"/>
                <a:cs typeface="Lora" pitchFamily="34" charset="-120"/>
              </a:rPr>
              <a:t>Data Organization</a:t>
            </a:r>
            <a:endParaRPr lang="en-US" sz="1150" dirty="0"/>
          </a:p>
        </p:txBody>
      </p:sp>
      <p:sp>
        <p:nvSpPr>
          <p:cNvPr id="32" name="Text 24"/>
          <p:cNvSpPr/>
          <p:nvPr/>
        </p:nvSpPr>
        <p:spPr>
          <a:xfrm>
            <a:off x="4751412" y="4417888"/>
            <a:ext cx="3742804" cy="186110"/>
          </a:xfrm>
          <a:prstGeom prst="rect">
            <a:avLst/>
          </a:prstGeom>
          <a:noFill/>
          <a:ln/>
        </p:spPr>
        <p:txBody>
          <a:bodyPr wrap="none" lIns="0" tIns="0" rIns="0" bIns="0" rtlCol="0" anchor="t"/>
          <a:lstStyle/>
          <a:p>
            <a:pPr marL="0" indent="0" algn="l">
              <a:lnSpc>
                <a:spcPct val="123000"/>
              </a:lnSpc>
              <a:buNone/>
            </a:pPr>
            <a:r>
              <a:rPr lang="en-US" sz="950" dirty="0">
                <a:solidFill>
                  <a:srgbClr val="D6E5EF"/>
                </a:solidFill>
                <a:latin typeface="Source Sans 3" pitchFamily="34" charset="0"/>
                <a:ea typeface="Source Sans 3" pitchFamily="34" charset="-122"/>
                <a:cs typeface="Source Sans 3" pitchFamily="34" charset="-120"/>
              </a:rPr>
              <a:t>Arranges listings under canonical products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417091"/>
            <a:ext cx="8096845" cy="302493"/>
          </a:xfrm>
          <a:prstGeom prst="rect">
            <a:avLst/>
          </a:prstGeom>
          <a:noFill/>
          <a:ln/>
        </p:spPr>
        <p:txBody>
          <a:bodyPr wrap="none" lIns="0" tIns="0" rIns="0" bIns="0" rtlCol="0" anchor="t"/>
          <a:lstStyle/>
          <a:p>
            <a:pPr marL="0" indent="0" algn="l">
              <a:lnSpc>
                <a:spcPct val="104000"/>
              </a:lnSpc>
              <a:buNone/>
            </a:pPr>
            <a:r>
              <a:rPr lang="en-US" sz="1900" dirty="0">
                <a:solidFill>
                  <a:srgbClr val="F98AC7"/>
                </a:solidFill>
                <a:latin typeface="Lora" pitchFamily="34" charset="0"/>
                <a:ea typeface="Lora" pitchFamily="34" charset="-122"/>
                <a:cs typeface="Lora" pitchFamily="34" charset="-120"/>
              </a:rPr>
              <a:t>Expected Output &amp; Benefits</a:t>
            </a:r>
            <a:endParaRPr lang="en-US" sz="1900" dirty="0"/>
          </a:p>
        </p:txBody>
      </p:sp>
      <p:sp>
        <p:nvSpPr>
          <p:cNvPr id="3" name="Shape 1"/>
          <p:cNvSpPr/>
          <p:nvPr/>
        </p:nvSpPr>
        <p:spPr>
          <a:xfrm>
            <a:off x="523577" y="860971"/>
            <a:ext cx="935608" cy="156195"/>
          </a:xfrm>
          <a:prstGeom prst="roundRect">
            <a:avLst>
              <a:gd name="adj" fmla="val 7902"/>
            </a:avLst>
          </a:prstGeom>
          <a:solidFill>
            <a:srgbClr val="49042A"/>
          </a:solidFill>
          <a:ln/>
        </p:spPr>
      </p:sp>
      <p:sp>
        <p:nvSpPr>
          <p:cNvPr id="4" name="Text 2"/>
          <p:cNvSpPr/>
          <p:nvPr/>
        </p:nvSpPr>
        <p:spPr>
          <a:xfrm>
            <a:off x="585267" y="891778"/>
            <a:ext cx="1269429" cy="94580"/>
          </a:xfrm>
          <a:prstGeom prst="rect">
            <a:avLst/>
          </a:prstGeom>
          <a:noFill/>
          <a:ln/>
        </p:spPr>
        <p:txBody>
          <a:bodyPr wrap="none" lIns="0" tIns="0" rIns="0" bIns="0" rtlCol="0" anchor="t"/>
          <a:lstStyle/>
          <a:p>
            <a:pPr marL="0" indent="0" algn="l">
              <a:lnSpc>
                <a:spcPct val="96000"/>
              </a:lnSpc>
              <a:buNone/>
            </a:pPr>
            <a:r>
              <a:rPr lang="en-US" sz="600" dirty="0">
                <a:solidFill>
                  <a:srgbClr val="D6E5EF"/>
                </a:solidFill>
                <a:latin typeface="Source Sans 3" pitchFamily="34" charset="0"/>
                <a:ea typeface="Source Sans 3" pitchFamily="34" charset="-122"/>
                <a:cs typeface="Source Sans 3" pitchFamily="34" charset="-120"/>
              </a:rPr>
              <a:t>ILLUSTRATIVE EXAMPLE</a:t>
            </a:r>
            <a:endParaRPr lang="en-US" sz="6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577" y="1176263"/>
            <a:ext cx="3922961" cy="594940"/>
          </a:xfrm>
          <a:prstGeom prst="rect">
            <a:avLst/>
          </a:prstGeom>
        </p:spPr>
      </p:pic>
      <p:sp>
        <p:nvSpPr>
          <p:cNvPr id="6" name="Text 3"/>
          <p:cNvSpPr/>
          <p:nvPr/>
        </p:nvSpPr>
        <p:spPr>
          <a:xfrm>
            <a:off x="697855" y="1293391"/>
            <a:ext cx="3631555" cy="151209"/>
          </a:xfrm>
          <a:prstGeom prst="rect">
            <a:avLst/>
          </a:prstGeom>
          <a:noFill/>
          <a:ln/>
        </p:spPr>
        <p:txBody>
          <a:bodyPr wrap="none" lIns="0" tIns="0" rIns="0" bIns="0" rtlCol="0" anchor="t"/>
          <a:lstStyle/>
          <a:p>
            <a:pPr marL="0" indent="0" algn="l">
              <a:lnSpc>
                <a:spcPct val="104000"/>
              </a:lnSpc>
              <a:buNone/>
            </a:pPr>
            <a:r>
              <a:rPr lang="en-US" sz="950" dirty="0">
                <a:solidFill>
                  <a:srgbClr val="D6E5EF"/>
                </a:solidFill>
                <a:latin typeface="Lora" pitchFamily="34" charset="0"/>
                <a:ea typeface="Lora" pitchFamily="34" charset="-122"/>
                <a:cs typeface="Lora" pitchFamily="34" charset="-120"/>
              </a:rPr>
              <a:t>Seller A</a:t>
            </a:r>
            <a:endParaRPr lang="en-US" sz="950" dirty="0"/>
          </a:p>
        </p:txBody>
      </p:sp>
      <p:sp>
        <p:nvSpPr>
          <p:cNvPr id="7" name="Text 4"/>
          <p:cNvSpPr/>
          <p:nvPr/>
        </p:nvSpPr>
        <p:spPr>
          <a:xfrm>
            <a:off x="697855" y="1515294"/>
            <a:ext cx="3631555" cy="138782"/>
          </a:xfrm>
          <a:prstGeom prst="rect">
            <a:avLst/>
          </a:prstGeom>
          <a:noFill/>
          <a:ln/>
        </p:spPr>
        <p:txBody>
          <a:bodyPr wrap="none" lIns="0" tIns="0" rIns="0" bIns="0" rtlCol="0" anchor="t"/>
          <a:lstStyle/>
          <a:p>
            <a:pPr marL="0" indent="0" algn="l">
              <a:lnSpc>
                <a:spcPct val="113000"/>
              </a:lnSpc>
              <a:buNone/>
            </a:pPr>
            <a:r>
              <a:rPr lang="en-US" sz="800" dirty="0">
                <a:solidFill>
                  <a:srgbClr val="D6E5EF"/>
                </a:solidFill>
                <a:latin typeface="Source Sans 3" pitchFamily="34" charset="0"/>
                <a:ea typeface="Source Sans 3" pitchFamily="34" charset="-122"/>
                <a:cs typeface="Source Sans 3" pitchFamily="34" charset="-120"/>
              </a:rPr>
              <a:t>"Samsung Galaxy S24 128GB Black"</a:t>
            </a:r>
            <a:endParaRPr lang="en-US" sz="8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577" y="1841897"/>
            <a:ext cx="3922961" cy="594940"/>
          </a:xfrm>
          <a:prstGeom prst="rect">
            <a:avLst/>
          </a:prstGeom>
        </p:spPr>
      </p:pic>
      <p:sp>
        <p:nvSpPr>
          <p:cNvPr id="9" name="Text 5"/>
          <p:cNvSpPr/>
          <p:nvPr/>
        </p:nvSpPr>
        <p:spPr>
          <a:xfrm>
            <a:off x="697855" y="1959025"/>
            <a:ext cx="3631555" cy="151209"/>
          </a:xfrm>
          <a:prstGeom prst="rect">
            <a:avLst/>
          </a:prstGeom>
          <a:noFill/>
          <a:ln/>
        </p:spPr>
        <p:txBody>
          <a:bodyPr wrap="none" lIns="0" tIns="0" rIns="0" bIns="0" rtlCol="0" anchor="t"/>
          <a:lstStyle/>
          <a:p>
            <a:pPr marL="0" indent="0" algn="l">
              <a:lnSpc>
                <a:spcPct val="104000"/>
              </a:lnSpc>
              <a:buNone/>
            </a:pPr>
            <a:r>
              <a:rPr lang="en-US" sz="950" dirty="0">
                <a:solidFill>
                  <a:srgbClr val="D6E5EF"/>
                </a:solidFill>
                <a:latin typeface="Lora" pitchFamily="34" charset="0"/>
                <a:ea typeface="Lora" pitchFamily="34" charset="-122"/>
                <a:cs typeface="Lora" pitchFamily="34" charset="-120"/>
              </a:rPr>
              <a:t>Seller B</a:t>
            </a:r>
            <a:endParaRPr lang="en-US" sz="950" dirty="0"/>
          </a:p>
        </p:txBody>
      </p:sp>
      <p:sp>
        <p:nvSpPr>
          <p:cNvPr id="10" name="Text 6"/>
          <p:cNvSpPr/>
          <p:nvPr/>
        </p:nvSpPr>
        <p:spPr>
          <a:xfrm>
            <a:off x="697855" y="2180927"/>
            <a:ext cx="3631555" cy="138782"/>
          </a:xfrm>
          <a:prstGeom prst="rect">
            <a:avLst/>
          </a:prstGeom>
          <a:noFill/>
          <a:ln/>
        </p:spPr>
        <p:txBody>
          <a:bodyPr wrap="none" lIns="0" tIns="0" rIns="0" bIns="0" rtlCol="0" anchor="t"/>
          <a:lstStyle/>
          <a:p>
            <a:pPr marL="0" indent="0" algn="l">
              <a:lnSpc>
                <a:spcPct val="113000"/>
              </a:lnSpc>
              <a:buNone/>
            </a:pPr>
            <a:r>
              <a:rPr lang="en-US" sz="800" dirty="0">
                <a:solidFill>
                  <a:srgbClr val="D6E5EF"/>
                </a:solidFill>
                <a:latin typeface="Source Sans 3" pitchFamily="34" charset="0"/>
                <a:ea typeface="Source Sans 3" pitchFamily="34" charset="-122"/>
                <a:cs typeface="Source Sans 3" pitchFamily="34" charset="-120"/>
              </a:rPr>
              <a:t>"Samsung S24 – 128 GB – Black"</a:t>
            </a:r>
            <a:endParaRPr lang="en-US" sz="8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577" y="2507531"/>
            <a:ext cx="3922961" cy="594940"/>
          </a:xfrm>
          <a:prstGeom prst="rect">
            <a:avLst/>
          </a:prstGeom>
        </p:spPr>
      </p:pic>
      <p:sp>
        <p:nvSpPr>
          <p:cNvPr id="12" name="Text 7"/>
          <p:cNvSpPr/>
          <p:nvPr/>
        </p:nvSpPr>
        <p:spPr>
          <a:xfrm>
            <a:off x="697855" y="2624658"/>
            <a:ext cx="3631555" cy="151209"/>
          </a:xfrm>
          <a:prstGeom prst="rect">
            <a:avLst/>
          </a:prstGeom>
          <a:noFill/>
          <a:ln/>
        </p:spPr>
        <p:txBody>
          <a:bodyPr wrap="none" lIns="0" tIns="0" rIns="0" bIns="0" rtlCol="0" anchor="t"/>
          <a:lstStyle/>
          <a:p>
            <a:pPr marL="0" indent="0" algn="l">
              <a:lnSpc>
                <a:spcPct val="104000"/>
              </a:lnSpc>
              <a:buNone/>
            </a:pPr>
            <a:r>
              <a:rPr lang="en-US" sz="950" dirty="0">
                <a:solidFill>
                  <a:srgbClr val="D6E5EF"/>
                </a:solidFill>
                <a:latin typeface="Lora" pitchFamily="34" charset="0"/>
                <a:ea typeface="Lora" pitchFamily="34" charset="-122"/>
                <a:cs typeface="Lora" pitchFamily="34" charset="-120"/>
              </a:rPr>
              <a:t>Seller C</a:t>
            </a:r>
            <a:endParaRPr lang="en-US" sz="950" dirty="0"/>
          </a:p>
        </p:txBody>
      </p:sp>
      <p:sp>
        <p:nvSpPr>
          <p:cNvPr id="13" name="Text 8"/>
          <p:cNvSpPr/>
          <p:nvPr/>
        </p:nvSpPr>
        <p:spPr>
          <a:xfrm>
            <a:off x="697855" y="2846561"/>
            <a:ext cx="3631555" cy="138782"/>
          </a:xfrm>
          <a:prstGeom prst="rect">
            <a:avLst/>
          </a:prstGeom>
          <a:noFill/>
          <a:ln/>
        </p:spPr>
        <p:txBody>
          <a:bodyPr wrap="none" lIns="0" tIns="0" rIns="0" bIns="0" rtlCol="0" anchor="t"/>
          <a:lstStyle/>
          <a:p>
            <a:pPr marL="0" indent="0" algn="l">
              <a:lnSpc>
                <a:spcPct val="113000"/>
              </a:lnSpc>
              <a:buNone/>
            </a:pPr>
            <a:r>
              <a:rPr lang="en-US" sz="800" dirty="0">
                <a:solidFill>
                  <a:srgbClr val="D6E5EF"/>
                </a:solidFill>
                <a:latin typeface="Source Sans 3" pitchFamily="34" charset="0"/>
                <a:ea typeface="Source Sans 3" pitchFamily="34" charset="-122"/>
                <a:cs typeface="Source Sans 3" pitchFamily="34" charset="-120"/>
              </a:rPr>
              <a:t>"Galaxy S24 128GB Black"</a:t>
            </a:r>
            <a:endParaRPr lang="en-US" sz="800" dirty="0"/>
          </a:p>
        </p:txBody>
      </p:sp>
      <p:sp>
        <p:nvSpPr>
          <p:cNvPr id="14" name="Shape 9"/>
          <p:cNvSpPr/>
          <p:nvPr/>
        </p:nvSpPr>
        <p:spPr>
          <a:xfrm>
            <a:off x="523577" y="3182020"/>
            <a:ext cx="3922961" cy="456158"/>
          </a:xfrm>
          <a:prstGeom prst="roundRect">
            <a:avLst>
              <a:gd name="adj" fmla="val 3382"/>
            </a:avLst>
          </a:prstGeom>
          <a:solidFill>
            <a:srgbClr val="790645"/>
          </a:solidFill>
          <a:ln/>
        </p:spPr>
      </p:sp>
      <p:pic>
        <p:nvPicPr>
          <p:cNvPr id="15" name="Image 3" descr="preencoded.png"/>
          <p:cNvPicPr>
            <a:picLocks noChangeAspect="1"/>
          </p:cNvPicPr>
          <p:nvPr/>
        </p:nvPicPr>
        <p:blipFill>
          <a:blip r:embed="rId4"/>
          <a:stretch>
            <a:fillRect/>
          </a:stretch>
        </p:blipFill>
        <p:spPr>
          <a:xfrm>
            <a:off x="626418" y="3288357"/>
            <a:ext cx="128513" cy="102840"/>
          </a:xfrm>
          <a:prstGeom prst="rect">
            <a:avLst/>
          </a:prstGeom>
        </p:spPr>
      </p:pic>
      <p:sp>
        <p:nvSpPr>
          <p:cNvPr id="16" name="Text 10"/>
          <p:cNvSpPr/>
          <p:nvPr/>
        </p:nvSpPr>
        <p:spPr>
          <a:xfrm>
            <a:off x="857771" y="3271317"/>
            <a:ext cx="3485927" cy="277564"/>
          </a:xfrm>
          <a:prstGeom prst="rect">
            <a:avLst/>
          </a:prstGeom>
          <a:noFill/>
          <a:ln/>
        </p:spPr>
        <p:txBody>
          <a:bodyPr wrap="square" lIns="0" tIns="0" rIns="0" bIns="0" rtlCol="0" anchor="t">
            <a:normAutofit/>
          </a:bodyPr>
          <a:lstStyle/>
          <a:p>
            <a:pPr marL="0" indent="0" algn="l">
              <a:lnSpc>
                <a:spcPct val="113000"/>
              </a:lnSpc>
              <a:buNone/>
            </a:pPr>
            <a:r>
              <a:rPr lang="en-US" sz="800" b="1" dirty="0">
                <a:solidFill>
                  <a:srgbClr val="FFFFFF"/>
                </a:solidFill>
                <a:latin typeface="Source Sans 3 Bold" pitchFamily="34" charset="0"/>
                <a:ea typeface="Source Sans 3 Bold" pitchFamily="34" charset="-122"/>
                <a:cs typeface="Source Sans 3 Bold" pitchFamily="34" charset="-120"/>
              </a:rPr>
              <a:t>Canonical Product:</a:t>
            </a:r>
            <a:r>
              <a:rPr lang="en-US" sz="800" dirty="0">
                <a:solidFill>
                  <a:srgbClr val="FFFFFF"/>
                </a:solidFill>
                <a:latin typeface="Source Sans 3" pitchFamily="34" charset="0"/>
                <a:ea typeface="Source Sans 3" pitchFamily="34" charset="-122"/>
                <a:cs typeface="Source Sans 3" pitchFamily="34" charset="-120"/>
              </a:rPr>
              <a:t> Samsung Galaxy S24 – 128GB – Black → Compare Seller Prices</a:t>
            </a:r>
            <a:endParaRPr lang="en-US" sz="800" dirty="0"/>
          </a:p>
        </p:txBody>
      </p:sp>
      <p:sp>
        <p:nvSpPr>
          <p:cNvPr id="17" name="Text 11"/>
          <p:cNvSpPr/>
          <p:nvPr/>
        </p:nvSpPr>
        <p:spPr>
          <a:xfrm>
            <a:off x="4702225" y="1167408"/>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F98AC7"/>
                </a:solidFill>
                <a:latin typeface="Lora" pitchFamily="34" charset="0"/>
                <a:ea typeface="Lora" pitchFamily="34" charset="-122"/>
                <a:cs typeface="Lora" pitchFamily="34" charset="-120"/>
              </a:rPr>
              <a:t>Platform Benefits</a:t>
            </a:r>
            <a:endParaRPr lang="en-US" sz="95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2225" y="1398166"/>
            <a:ext cx="257101" cy="257101"/>
          </a:xfrm>
          <a:prstGeom prst="rect">
            <a:avLst/>
          </a:prstGeom>
        </p:spPr>
      </p:pic>
      <p:sp>
        <p:nvSpPr>
          <p:cNvPr id="19" name="Text 12"/>
          <p:cNvSpPr/>
          <p:nvPr/>
        </p:nvSpPr>
        <p:spPr>
          <a:xfrm>
            <a:off x="4702225" y="1743596"/>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D6E5EF"/>
                </a:solidFill>
                <a:latin typeface="Lora" pitchFamily="34" charset="0"/>
                <a:ea typeface="Lora" pitchFamily="34" charset="-122"/>
                <a:cs typeface="Lora" pitchFamily="34" charset="-120"/>
              </a:rPr>
              <a:t>Identifies Equivalents</a:t>
            </a:r>
            <a:endParaRPr lang="en-US" sz="950" dirty="0"/>
          </a:p>
        </p:txBody>
      </p:sp>
      <p:sp>
        <p:nvSpPr>
          <p:cNvPr id="20" name="Text 13"/>
          <p:cNvSpPr/>
          <p:nvPr/>
        </p:nvSpPr>
        <p:spPr>
          <a:xfrm>
            <a:off x="4702225" y="1965499"/>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D6E5EF"/>
                </a:solidFill>
                <a:latin typeface="Source Sans 3" pitchFamily="34" charset="0"/>
                <a:ea typeface="Source Sans 3" pitchFamily="34" charset="-122"/>
                <a:cs typeface="Source Sans 3" pitchFamily="34" charset="-120"/>
              </a:rPr>
              <a:t>Resolves listings to the same product</a:t>
            </a:r>
            <a:endParaRPr lang="en-US" sz="80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02225" y="2245668"/>
            <a:ext cx="257101" cy="257101"/>
          </a:xfrm>
          <a:prstGeom prst="rect">
            <a:avLst/>
          </a:prstGeom>
        </p:spPr>
      </p:pic>
      <p:sp>
        <p:nvSpPr>
          <p:cNvPr id="22" name="Text 14"/>
          <p:cNvSpPr/>
          <p:nvPr/>
        </p:nvSpPr>
        <p:spPr>
          <a:xfrm>
            <a:off x="4702225" y="2591098"/>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D6E5EF"/>
                </a:solidFill>
                <a:latin typeface="Lora" pitchFamily="34" charset="0"/>
                <a:ea typeface="Lora" pitchFamily="34" charset="-122"/>
                <a:cs typeface="Lora" pitchFamily="34" charset="-120"/>
              </a:rPr>
              <a:t>Price Comparison</a:t>
            </a:r>
            <a:endParaRPr lang="en-US" sz="950" dirty="0"/>
          </a:p>
        </p:txBody>
      </p:sp>
      <p:sp>
        <p:nvSpPr>
          <p:cNvPr id="23" name="Text 15"/>
          <p:cNvSpPr/>
          <p:nvPr/>
        </p:nvSpPr>
        <p:spPr>
          <a:xfrm>
            <a:off x="4702225" y="2813000"/>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D6E5EF"/>
                </a:solidFill>
                <a:latin typeface="Source Sans 3" pitchFamily="34" charset="0"/>
                <a:ea typeface="Source Sans 3" pitchFamily="34" charset="-122"/>
                <a:cs typeface="Source Sans 3" pitchFamily="34" charset="-120"/>
              </a:rPr>
              <a:t>Enables accurate cross-seller comparison</a:t>
            </a:r>
            <a:endParaRPr lang="en-US" sz="800"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02225" y="3093169"/>
            <a:ext cx="257101" cy="257101"/>
          </a:xfrm>
          <a:prstGeom prst="rect">
            <a:avLst/>
          </a:prstGeom>
        </p:spPr>
      </p:pic>
      <p:sp>
        <p:nvSpPr>
          <p:cNvPr id="25" name="Text 16"/>
          <p:cNvSpPr/>
          <p:nvPr/>
        </p:nvSpPr>
        <p:spPr>
          <a:xfrm>
            <a:off x="4702225" y="3438599"/>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D6E5EF"/>
                </a:solidFill>
                <a:latin typeface="Lora" pitchFamily="34" charset="0"/>
                <a:ea typeface="Lora" pitchFamily="34" charset="-122"/>
                <a:cs typeface="Lora" pitchFamily="34" charset="-120"/>
              </a:rPr>
              <a:t>Reduces Duplication</a:t>
            </a:r>
            <a:endParaRPr lang="en-US" sz="950" dirty="0"/>
          </a:p>
        </p:txBody>
      </p:sp>
      <p:sp>
        <p:nvSpPr>
          <p:cNvPr id="26" name="Text 17"/>
          <p:cNvSpPr/>
          <p:nvPr/>
        </p:nvSpPr>
        <p:spPr>
          <a:xfrm>
            <a:off x="4702225" y="3660502"/>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D6E5EF"/>
                </a:solidFill>
                <a:latin typeface="Source Sans 3" pitchFamily="34" charset="0"/>
                <a:ea typeface="Source Sans 3" pitchFamily="34" charset="-122"/>
                <a:cs typeface="Source Sans 3" pitchFamily="34" charset="-120"/>
              </a:rPr>
              <a:t>Cleaner, organized product catalogue</a:t>
            </a:r>
            <a:endParaRPr lang="en-US" sz="800" dirty="0"/>
          </a:p>
        </p:txBody>
      </p:sp>
      <p:pic>
        <p:nvPicPr>
          <p:cNvPr id="27"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02225" y="3940671"/>
            <a:ext cx="257101" cy="257101"/>
          </a:xfrm>
          <a:prstGeom prst="rect">
            <a:avLst/>
          </a:prstGeom>
        </p:spPr>
      </p:pic>
      <p:sp>
        <p:nvSpPr>
          <p:cNvPr id="28" name="Text 18"/>
          <p:cNvSpPr/>
          <p:nvPr/>
        </p:nvSpPr>
        <p:spPr>
          <a:xfrm>
            <a:off x="4702225" y="4286101"/>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D6E5EF"/>
                </a:solidFill>
                <a:latin typeface="Lora" pitchFamily="34" charset="0"/>
                <a:ea typeface="Lora" pitchFamily="34" charset="-122"/>
                <a:cs typeface="Lora" pitchFamily="34" charset="-120"/>
              </a:rPr>
              <a:t>Better Discovery</a:t>
            </a:r>
            <a:endParaRPr lang="en-US" sz="950" dirty="0"/>
          </a:p>
        </p:txBody>
      </p:sp>
      <p:sp>
        <p:nvSpPr>
          <p:cNvPr id="29" name="Text 19"/>
          <p:cNvSpPr/>
          <p:nvPr/>
        </p:nvSpPr>
        <p:spPr>
          <a:xfrm>
            <a:off x="4702225" y="4508004"/>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D6E5EF"/>
                </a:solidFill>
                <a:latin typeface="Source Sans 3" pitchFamily="34" charset="0"/>
                <a:ea typeface="Source Sans 3" pitchFamily="34" charset="-122"/>
                <a:cs typeface="Source Sans 3" pitchFamily="34" charset="-120"/>
              </a:rPr>
              <a:t>Improves product search &amp; matching</a:t>
            </a:r>
            <a:endParaRPr lang="en-US" sz="800" dirty="0"/>
          </a:p>
        </p:txBody>
      </p:sp>
      <p:pic>
        <p:nvPicPr>
          <p:cNvPr id="31" name="Picture 30">
            <a:extLst>
              <a:ext uri="{FF2B5EF4-FFF2-40B4-BE49-F238E27FC236}">
                <a16:creationId xmlns:a16="http://schemas.microsoft.com/office/drawing/2014/main" id="{70BC515D-5ADE-37F8-1765-05C16D96F5E3}"/>
              </a:ext>
            </a:extLst>
          </p:cNvPr>
          <p:cNvPicPr>
            <a:picLocks noChangeAspect="1"/>
          </p:cNvPicPr>
          <p:nvPr/>
        </p:nvPicPr>
        <p:blipFill>
          <a:blip r:embed="rId9"/>
          <a:stretch>
            <a:fillRect/>
          </a:stretch>
        </p:blipFill>
        <p:spPr>
          <a:xfrm>
            <a:off x="2429" y="0"/>
            <a:ext cx="9139141" cy="5143500"/>
          </a:xfrm>
          <a:prstGeom prst="rect">
            <a:avLst/>
          </a:prstGeom>
        </p:spPr>
      </p:pic>
    </p:spTree>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Film Burn</Template>
  <TotalTime>78</TotalTime>
  <Words>690</Words>
  <Application>Microsoft Office PowerPoint</Application>
  <PresentationFormat>On-screen Show (16:9)</PresentationFormat>
  <Paragraphs>150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Source Sans 3</vt:lpstr>
      <vt:lpstr>Source Sans 3 Bold</vt:lpstr>
      <vt:lpstr>Neue Haas Grotesk Text Pro</vt:lpstr>
      <vt:lpstr>Lora</vt:lpstr>
      <vt:lpstr>Arial</vt:lpstr>
      <vt:lpstr>Film Burn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SHIVAM TIWARI</cp:lastModifiedBy>
  <cp:revision>15</cp:revision>
  <dcterms:created xsi:type="dcterms:W3CDTF">2026-08-18T03:27:44Z</dcterms:created>
  <dcterms:modified xsi:type="dcterms:W3CDTF">2026-08-18T08:30:28Z</dcterms:modified>
</cp:coreProperties>
</file>